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36" r:id="rId3"/>
    <p:sldId id="324" r:id="rId4"/>
    <p:sldId id="349" r:id="rId5"/>
    <p:sldId id="348" r:id="rId6"/>
    <p:sldId id="350" r:id="rId7"/>
    <p:sldId id="354" r:id="rId8"/>
    <p:sldId id="355" r:id="rId9"/>
    <p:sldId id="356" r:id="rId10"/>
    <p:sldId id="351" r:id="rId11"/>
    <p:sldId id="352" r:id="rId12"/>
    <p:sldId id="353" r:id="rId13"/>
    <p:sldId id="331" r:id="rId14"/>
    <p:sldId id="357" r:id="rId15"/>
    <p:sldId id="358" r:id="rId16"/>
    <p:sldId id="359" r:id="rId17"/>
    <p:sldId id="257" r:id="rId18"/>
    <p:sldId id="258" r:id="rId19"/>
    <p:sldId id="26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4660"/>
  </p:normalViewPr>
  <p:slideViewPr>
    <p:cSldViewPr snapToGrid="0">
      <p:cViewPr>
        <p:scale>
          <a:sx n="66" d="100"/>
          <a:sy n="66" d="100"/>
        </p:scale>
        <p:origin x="235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9AF4-9221-4E2C-9B6D-C66144B1766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A61FF-754C-4554-BD13-13D00772D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A61FF-754C-4554-BD13-13D00772D7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33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6088-B231-C1F4-4249-28FC81E7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1DF9F-9300-B689-9652-8E769E109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602B3-AF6E-C44A-55B4-4F44E8AD2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B625E-D04F-8A8E-34CB-CB7203240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99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A61FF-754C-4554-BD13-13D00772D7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06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31AD-9CDD-7E33-A503-121556729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CAC66-D818-C886-7705-D397C7739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C5B57-6F17-BABB-54CC-C53B99550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9AC68-C555-1D3F-5A02-65A77A06D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9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0D35F-B7F1-F080-D8DD-69F49A15F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90290-1048-F723-CFDF-223FF774F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C4DB2-9058-5880-81A2-27CF8C58C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3B074-5316-85AD-8AE5-F155D73EB2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09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5047-5D77-B1B6-C2FD-8B8DBE34B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385C4-8743-C658-3377-F38D13793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67964-C3FF-EF73-EB8A-6CE9BFC11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E1CDD-E38F-C7DC-C26B-FD662005C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183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F93D-D61B-D82F-28EA-1850E33B8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2FFBA-326D-EC66-3559-23B7D514C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9E27D-8421-CEE1-5097-15E4356D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85B4-8F92-E1DC-32B5-FED10D5A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227C-7DCE-7874-B917-68B52886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6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32FC-CDB4-D9D8-DE44-52E84C0F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DDF3A-B40F-CF77-A4CA-9F0EC37F1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770A-59D8-216F-2880-9FE81EEE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961F-8996-6DCA-2898-18074613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5ECA-96A9-F0A6-1EA7-D17735B8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4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5381-CAB5-6396-7BE9-5451EB90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5D441-8B94-B800-867F-794FAD29E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D1DD-85D3-A6AC-D00F-B3CC57C9E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FB2A-E811-1094-ED60-9E560A92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641BE-041A-05B2-78C9-BC971689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0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528F-68FA-DC68-15A7-90181F52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008F3-0764-F471-5C2A-A99333DC3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9A23A-6AB8-50B3-1DE8-A2998D37D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7A7E3-3C19-727D-0344-820B664D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76D1-C7C6-C6E2-665B-F56E972A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1006-4CA0-902D-AEBE-2D0B415F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0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73CB-F9A2-93C4-0727-139E3E04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E91C4-8417-19D2-2220-9D46926C6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9CFEB-0E0A-9A5C-17AD-898FF5444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58025-871A-58D1-4CE2-35F07E4A5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74C74A-520A-6310-1FAE-D8E92AF5E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2E0E18-A039-1E0F-25FC-4516F950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53B9E-CF69-8123-3C16-B597B9CB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6464FB-64DB-BE3E-241D-9683738F1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1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C677-BB97-4844-1B4A-152D249D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AFEA1F-ABDA-EAA3-A8F1-37646DE1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F41B5-FEDC-C20B-0CBD-09C9E5F9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34DE0-05D4-06E5-BC9C-8D0140B67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8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A7F2E-6332-0B51-7851-CFBC64D0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B1D96-75E2-F983-92CE-20627A97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12E7D-115C-D737-9D3A-8AE34AA8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8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AF67-4EBB-9A4A-C847-7349FAB8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9EC9-B87F-C1AC-64A6-6B7A27719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DE059-0641-AD8C-CEF7-1408A33DE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6C13D-B266-1408-5C18-D8E6AD7A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1593F-A639-D4E1-96E6-D8B094EA1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C1587-202C-7E21-5D60-F5DBF871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07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B01C-3D77-49D4-3B6A-CE362F3C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B9778-C79D-0C1F-8B42-83A5B39AF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6E122-543E-780B-80E5-C7A57BE74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9E38-35E6-23CB-6626-682C37C2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C5CD7-9CB7-17FC-B0E5-3A140211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97870-4159-FA98-4346-94C3BF1D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3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B6EF-3A63-758B-8F61-4F06518F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0C398-EAAC-50F2-10E0-397024E3D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93C37-134F-7D89-A87D-3708579E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A933F-A302-9DE8-36F5-C5AB3A2E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83C88-F02E-8EC7-1D55-E4A9D463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9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519B4-379A-5CBD-CA28-031306E86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6EFAA-1798-71F4-7B42-8073FC329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B2C74-8283-8B30-D289-A5AC076E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2F96C-4CA5-4DB4-BDAA-4907165A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937A0-9923-8CD9-65E1-F1889FA1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04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972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259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CD4BC-B785-9225-27CF-6E697590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A784E-FAB7-6127-8CC6-94BAF016B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9BAF1-F1AF-74DE-5942-513AB5428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EBCEA-142B-4F85-8136-7D855703DEC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6FDC9-34F8-91D6-B5FA-906CA4FE9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580A1-7709-BC54-6FEF-8A0DECC6B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045EB-3F34-4989-8BA0-E4BA30C35F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8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CC6D25E-78B1-4367-B323-E1F0E2A75037}"/>
              </a:ext>
            </a:extLst>
          </p:cNvPr>
          <p:cNvSpPr/>
          <p:nvPr/>
        </p:nvSpPr>
        <p:spPr>
          <a:xfrm>
            <a:off x="-1523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>
                <a:moveTo>
                  <a:pt x="4621316" y="4981080"/>
                </a:moveTo>
                <a:lnTo>
                  <a:pt x="4689976" y="4981080"/>
                </a:lnTo>
                <a:cubicBezTo>
                  <a:pt x="4734100" y="4981080"/>
                  <a:pt x="4772452" y="4990565"/>
                  <a:pt x="4805029" y="5009534"/>
                </a:cubicBezTo>
                <a:cubicBezTo>
                  <a:pt x="4837607" y="5028503"/>
                  <a:pt x="4862659" y="5055308"/>
                  <a:pt x="4880185" y="5089948"/>
                </a:cubicBezTo>
                <a:cubicBezTo>
                  <a:pt x="4897711" y="5124587"/>
                  <a:pt x="4906475" y="5163557"/>
                  <a:pt x="4906475" y="5206857"/>
                </a:cubicBezTo>
                <a:cubicBezTo>
                  <a:pt x="4906475" y="5281085"/>
                  <a:pt x="4887402" y="5340158"/>
                  <a:pt x="4849257" y="5384076"/>
                </a:cubicBezTo>
                <a:cubicBezTo>
                  <a:pt x="4811112" y="5427994"/>
                  <a:pt x="4760080" y="5449954"/>
                  <a:pt x="4696162" y="5449954"/>
                </a:cubicBezTo>
                <a:lnTo>
                  <a:pt x="4621316" y="5449954"/>
                </a:lnTo>
                <a:close/>
                <a:moveTo>
                  <a:pt x="6555723" y="4772004"/>
                </a:moveTo>
                <a:lnTo>
                  <a:pt x="6767272" y="5659029"/>
                </a:lnTo>
                <a:lnTo>
                  <a:pt x="7067896" y="5659029"/>
                </a:lnTo>
                <a:lnTo>
                  <a:pt x="7200888" y="5153660"/>
                </a:lnTo>
                <a:cubicBezTo>
                  <a:pt x="7206661" y="5132629"/>
                  <a:pt x="7212641" y="5096752"/>
                  <a:pt x="7218826" y="5046029"/>
                </a:cubicBezTo>
                <a:lnTo>
                  <a:pt x="7221300" y="5046029"/>
                </a:lnTo>
                <a:cubicBezTo>
                  <a:pt x="7225837" y="5103350"/>
                  <a:pt x="7229960" y="5139227"/>
                  <a:pt x="7233672" y="5153660"/>
                </a:cubicBezTo>
                <a:lnTo>
                  <a:pt x="7356767" y="5659029"/>
                </a:lnTo>
                <a:lnTo>
                  <a:pt x="7640689" y="5659029"/>
                </a:lnTo>
                <a:lnTo>
                  <a:pt x="7864610" y="4772004"/>
                </a:lnTo>
                <a:lnTo>
                  <a:pt x="7601101" y="4772004"/>
                </a:lnTo>
                <a:lnTo>
                  <a:pt x="7523780" y="5294075"/>
                </a:lnTo>
                <a:lnTo>
                  <a:pt x="7515738" y="5380056"/>
                </a:lnTo>
                <a:lnTo>
                  <a:pt x="7513883" y="5401705"/>
                </a:lnTo>
                <a:lnTo>
                  <a:pt x="7511408" y="5401705"/>
                </a:lnTo>
                <a:lnTo>
                  <a:pt x="7505223" y="5350364"/>
                </a:lnTo>
                <a:lnTo>
                  <a:pt x="7497181" y="5297786"/>
                </a:lnTo>
                <a:lnTo>
                  <a:pt x="7383365" y="4772004"/>
                </a:lnTo>
                <a:lnTo>
                  <a:pt x="7092020" y="4772004"/>
                </a:lnTo>
                <a:lnTo>
                  <a:pt x="6955317" y="5290363"/>
                </a:lnTo>
                <a:cubicBezTo>
                  <a:pt x="6951605" y="5303147"/>
                  <a:pt x="6947688" y="5322426"/>
                  <a:pt x="6943564" y="5348199"/>
                </a:cubicBezTo>
                <a:cubicBezTo>
                  <a:pt x="6939440" y="5373973"/>
                  <a:pt x="6936966" y="5392221"/>
                  <a:pt x="6936141" y="5402943"/>
                </a:cubicBezTo>
                <a:lnTo>
                  <a:pt x="6932430" y="5402943"/>
                </a:lnTo>
                <a:lnTo>
                  <a:pt x="6928718" y="5351602"/>
                </a:lnTo>
                <a:cubicBezTo>
                  <a:pt x="6926244" y="5319848"/>
                  <a:pt x="6924388" y="5300673"/>
                  <a:pt x="6923151" y="5294075"/>
                </a:cubicBezTo>
                <a:lnTo>
                  <a:pt x="6848923" y="4772004"/>
                </a:lnTo>
                <a:close/>
                <a:moveTo>
                  <a:pt x="5754269" y="4772004"/>
                </a:moveTo>
                <a:lnTo>
                  <a:pt x="5754269" y="5659029"/>
                </a:lnTo>
                <a:lnTo>
                  <a:pt x="6021490" y="5659029"/>
                </a:lnTo>
                <a:lnTo>
                  <a:pt x="6021490" y="5222940"/>
                </a:lnTo>
                <a:lnTo>
                  <a:pt x="6024583" y="5222940"/>
                </a:lnTo>
                <a:cubicBezTo>
                  <a:pt x="6027057" y="5234074"/>
                  <a:pt x="6034893" y="5254486"/>
                  <a:pt x="6048088" y="5284178"/>
                </a:cubicBezTo>
                <a:lnTo>
                  <a:pt x="6244793" y="5659029"/>
                </a:lnTo>
                <a:lnTo>
                  <a:pt x="6568922" y="5659029"/>
                </a:lnTo>
                <a:lnTo>
                  <a:pt x="6293041" y="5195104"/>
                </a:lnTo>
                <a:lnTo>
                  <a:pt x="6544798" y="4772004"/>
                </a:lnTo>
                <a:lnTo>
                  <a:pt x="6228091" y="4772004"/>
                </a:lnTo>
                <a:lnTo>
                  <a:pt x="6051181" y="5132010"/>
                </a:lnTo>
                <a:cubicBezTo>
                  <a:pt x="6041284" y="5150980"/>
                  <a:pt x="6032418" y="5171599"/>
                  <a:pt x="6024583" y="5193867"/>
                </a:cubicBezTo>
                <a:lnTo>
                  <a:pt x="6021490" y="5193867"/>
                </a:lnTo>
                <a:lnTo>
                  <a:pt x="6021490" y="4772004"/>
                </a:lnTo>
                <a:close/>
                <a:moveTo>
                  <a:pt x="5316119" y="4772004"/>
                </a:moveTo>
                <a:lnTo>
                  <a:pt x="5316119" y="5659029"/>
                </a:lnTo>
                <a:lnTo>
                  <a:pt x="5583341" y="5659029"/>
                </a:lnTo>
                <a:lnTo>
                  <a:pt x="5583341" y="4772004"/>
                </a:lnTo>
                <a:close/>
                <a:moveTo>
                  <a:pt x="4354094" y="4772004"/>
                </a:moveTo>
                <a:lnTo>
                  <a:pt x="4354094" y="5659029"/>
                </a:lnTo>
                <a:lnTo>
                  <a:pt x="4729564" y="5659029"/>
                </a:lnTo>
                <a:cubicBezTo>
                  <a:pt x="4821112" y="5659029"/>
                  <a:pt x="4901938" y="5640266"/>
                  <a:pt x="4972043" y="5602740"/>
                </a:cubicBezTo>
                <a:cubicBezTo>
                  <a:pt x="5042147" y="5565213"/>
                  <a:pt x="5096065" y="5511913"/>
                  <a:pt x="5133798" y="5442840"/>
                </a:cubicBezTo>
                <a:cubicBezTo>
                  <a:pt x="5171530" y="5373767"/>
                  <a:pt x="5190397" y="5294281"/>
                  <a:pt x="5190397" y="5204383"/>
                </a:cubicBezTo>
                <a:cubicBezTo>
                  <a:pt x="5190397" y="4916130"/>
                  <a:pt x="5034105" y="4772004"/>
                  <a:pt x="4721523" y="4772004"/>
                </a:cubicBezTo>
                <a:close/>
                <a:moveTo>
                  <a:pt x="9781345" y="3412876"/>
                </a:moveTo>
                <a:cubicBezTo>
                  <a:pt x="9839884" y="3412876"/>
                  <a:pt x="9886021" y="3438177"/>
                  <a:pt x="9919755" y="3488778"/>
                </a:cubicBezTo>
                <a:cubicBezTo>
                  <a:pt x="9953489" y="3539380"/>
                  <a:pt x="9970357" y="3608585"/>
                  <a:pt x="9970357" y="3696393"/>
                </a:cubicBezTo>
                <a:cubicBezTo>
                  <a:pt x="9970357" y="3752452"/>
                  <a:pt x="9962171" y="3800821"/>
                  <a:pt x="9945800" y="3841501"/>
                </a:cubicBezTo>
                <a:cubicBezTo>
                  <a:pt x="9929429" y="3882181"/>
                  <a:pt x="9906361" y="3913434"/>
                  <a:pt x="9876595" y="3935262"/>
                </a:cubicBezTo>
                <a:cubicBezTo>
                  <a:pt x="9846830" y="3957091"/>
                  <a:pt x="9813343" y="3968005"/>
                  <a:pt x="9776136" y="3968005"/>
                </a:cubicBezTo>
                <a:cubicBezTo>
                  <a:pt x="9715117" y="3968005"/>
                  <a:pt x="9666872" y="3943696"/>
                  <a:pt x="9631401" y="3895079"/>
                </a:cubicBezTo>
                <a:cubicBezTo>
                  <a:pt x="9595930" y="3846462"/>
                  <a:pt x="9578195" y="3778745"/>
                  <a:pt x="9578195" y="3691928"/>
                </a:cubicBezTo>
                <a:cubicBezTo>
                  <a:pt x="9578195" y="3603128"/>
                  <a:pt x="9596054" y="3534419"/>
                  <a:pt x="9631773" y="3485802"/>
                </a:cubicBezTo>
                <a:cubicBezTo>
                  <a:pt x="9667492" y="3437184"/>
                  <a:pt x="9717349" y="3412876"/>
                  <a:pt x="9781345" y="3412876"/>
                </a:cubicBezTo>
                <a:close/>
                <a:moveTo>
                  <a:pt x="1075496" y="3412876"/>
                </a:moveTo>
                <a:cubicBezTo>
                  <a:pt x="1134035" y="3412876"/>
                  <a:pt x="1180172" y="3438177"/>
                  <a:pt x="1213907" y="3488778"/>
                </a:cubicBezTo>
                <a:cubicBezTo>
                  <a:pt x="1247641" y="3539380"/>
                  <a:pt x="1264508" y="3608585"/>
                  <a:pt x="1264508" y="3696393"/>
                </a:cubicBezTo>
                <a:cubicBezTo>
                  <a:pt x="1264508" y="3752452"/>
                  <a:pt x="1256322" y="3800821"/>
                  <a:pt x="1239951" y="3841501"/>
                </a:cubicBezTo>
                <a:cubicBezTo>
                  <a:pt x="1223580" y="3882181"/>
                  <a:pt x="1200512" y="3913434"/>
                  <a:pt x="1170746" y="3935262"/>
                </a:cubicBezTo>
                <a:cubicBezTo>
                  <a:pt x="1140981" y="3957091"/>
                  <a:pt x="1107494" y="3968005"/>
                  <a:pt x="1070287" y="3968005"/>
                </a:cubicBezTo>
                <a:cubicBezTo>
                  <a:pt x="1009268" y="3968005"/>
                  <a:pt x="961022" y="3943696"/>
                  <a:pt x="925552" y="3895079"/>
                </a:cubicBezTo>
                <a:cubicBezTo>
                  <a:pt x="890081" y="3846462"/>
                  <a:pt x="872346" y="3778745"/>
                  <a:pt x="872346" y="3691928"/>
                </a:cubicBezTo>
                <a:cubicBezTo>
                  <a:pt x="872346" y="3603128"/>
                  <a:pt x="890205" y="3534419"/>
                  <a:pt x="925924" y="3485802"/>
                </a:cubicBezTo>
                <a:cubicBezTo>
                  <a:pt x="961643" y="3437184"/>
                  <a:pt x="1011500" y="3412876"/>
                  <a:pt x="1075496" y="3412876"/>
                </a:cubicBezTo>
                <a:close/>
                <a:moveTo>
                  <a:pt x="7107351" y="3389063"/>
                </a:moveTo>
                <a:lnTo>
                  <a:pt x="7114792" y="3389063"/>
                </a:lnTo>
                <a:cubicBezTo>
                  <a:pt x="7118761" y="3426271"/>
                  <a:pt x="7125954" y="3466206"/>
                  <a:pt x="7136372" y="3508870"/>
                </a:cubicBezTo>
                <a:lnTo>
                  <a:pt x="7210786" y="3799085"/>
                </a:lnTo>
                <a:lnTo>
                  <a:pt x="7006892" y="3799085"/>
                </a:lnTo>
                <a:cubicBezTo>
                  <a:pt x="7060966" y="3592214"/>
                  <a:pt x="7090980" y="3475136"/>
                  <a:pt x="7096933" y="3447850"/>
                </a:cubicBezTo>
                <a:cubicBezTo>
                  <a:pt x="7102886" y="3420565"/>
                  <a:pt x="7106359" y="3400969"/>
                  <a:pt x="7107351" y="3389063"/>
                </a:cubicBezTo>
                <a:close/>
                <a:moveTo>
                  <a:pt x="2073835" y="3379390"/>
                </a:moveTo>
                <a:lnTo>
                  <a:pt x="2140064" y="3379390"/>
                </a:lnTo>
                <a:cubicBezTo>
                  <a:pt x="2186697" y="3379390"/>
                  <a:pt x="2220927" y="3389807"/>
                  <a:pt x="2242756" y="3410643"/>
                </a:cubicBezTo>
                <a:cubicBezTo>
                  <a:pt x="2264584" y="3431479"/>
                  <a:pt x="2275498" y="3459757"/>
                  <a:pt x="2275498" y="3495475"/>
                </a:cubicBezTo>
                <a:cubicBezTo>
                  <a:pt x="2275498" y="3532186"/>
                  <a:pt x="2262351" y="3562696"/>
                  <a:pt x="2236058" y="3587005"/>
                </a:cubicBezTo>
                <a:cubicBezTo>
                  <a:pt x="2209765" y="3611313"/>
                  <a:pt x="2175039" y="3623468"/>
                  <a:pt x="2131878" y="3623468"/>
                </a:cubicBezTo>
                <a:lnTo>
                  <a:pt x="2073835" y="3623468"/>
                </a:lnTo>
                <a:close/>
                <a:moveTo>
                  <a:pt x="10458216" y="3156892"/>
                </a:moveTo>
                <a:lnTo>
                  <a:pt x="10458216" y="4223989"/>
                </a:lnTo>
                <a:lnTo>
                  <a:pt x="10755872" y="4223989"/>
                </a:lnTo>
                <a:lnTo>
                  <a:pt x="10755872" y="3776016"/>
                </a:lnTo>
                <a:cubicBezTo>
                  <a:pt x="10755872" y="3710532"/>
                  <a:pt x="10754384" y="3651497"/>
                  <a:pt x="10751407" y="3598911"/>
                </a:cubicBezTo>
                <a:lnTo>
                  <a:pt x="10754384" y="3598911"/>
                </a:lnTo>
                <a:cubicBezTo>
                  <a:pt x="10773236" y="3631653"/>
                  <a:pt x="10797544" y="3668364"/>
                  <a:pt x="10827309" y="3709044"/>
                </a:cubicBezTo>
                <a:lnTo>
                  <a:pt x="11203845" y="4223989"/>
                </a:lnTo>
                <a:lnTo>
                  <a:pt x="11485874" y="4223989"/>
                </a:lnTo>
                <a:lnTo>
                  <a:pt x="11485874" y="3156892"/>
                </a:lnTo>
                <a:lnTo>
                  <a:pt x="11188218" y="3156892"/>
                </a:lnTo>
                <a:lnTo>
                  <a:pt x="11188218" y="3635374"/>
                </a:lnTo>
                <a:cubicBezTo>
                  <a:pt x="11188218" y="3688952"/>
                  <a:pt x="11189706" y="3726655"/>
                  <a:pt x="11192682" y="3748483"/>
                </a:cubicBezTo>
                <a:lnTo>
                  <a:pt x="11189706" y="3748483"/>
                </a:lnTo>
                <a:cubicBezTo>
                  <a:pt x="11186729" y="3741538"/>
                  <a:pt x="11182389" y="3733600"/>
                  <a:pt x="11176683" y="3724671"/>
                </a:cubicBezTo>
                <a:cubicBezTo>
                  <a:pt x="11170979" y="3715741"/>
                  <a:pt x="11164902" y="3706563"/>
                  <a:pt x="11158452" y="3697137"/>
                </a:cubicBezTo>
                <a:cubicBezTo>
                  <a:pt x="11152003" y="3687712"/>
                  <a:pt x="11145554" y="3678534"/>
                  <a:pt x="11139104" y="3669605"/>
                </a:cubicBezTo>
                <a:cubicBezTo>
                  <a:pt x="11132656" y="3660675"/>
                  <a:pt x="11127198" y="3652985"/>
                  <a:pt x="11122733" y="3646536"/>
                </a:cubicBezTo>
                <a:lnTo>
                  <a:pt x="10761825" y="3156892"/>
                </a:lnTo>
                <a:close/>
                <a:moveTo>
                  <a:pt x="8762765" y="3156892"/>
                </a:moveTo>
                <a:lnTo>
                  <a:pt x="8762765" y="4223989"/>
                </a:lnTo>
                <a:lnTo>
                  <a:pt x="9084234" y="4223989"/>
                </a:lnTo>
                <a:lnTo>
                  <a:pt x="9084234" y="3156892"/>
                </a:lnTo>
                <a:close/>
                <a:moveTo>
                  <a:pt x="7709360" y="3156892"/>
                </a:moveTo>
                <a:lnTo>
                  <a:pt x="7709360" y="3408411"/>
                </a:lnTo>
                <a:lnTo>
                  <a:pt x="8007761" y="3408411"/>
                </a:lnTo>
                <a:lnTo>
                  <a:pt x="8007761" y="4223989"/>
                </a:lnTo>
                <a:lnTo>
                  <a:pt x="8330718" y="4223989"/>
                </a:lnTo>
                <a:lnTo>
                  <a:pt x="8330718" y="3408411"/>
                </a:lnTo>
                <a:lnTo>
                  <a:pt x="8632839" y="3408411"/>
                </a:lnTo>
                <a:lnTo>
                  <a:pt x="8632839" y="3156892"/>
                </a:lnTo>
                <a:close/>
                <a:moveTo>
                  <a:pt x="6921315" y="3156892"/>
                </a:moveTo>
                <a:lnTo>
                  <a:pt x="6553710" y="4223989"/>
                </a:lnTo>
                <a:lnTo>
                  <a:pt x="6901224" y="4223989"/>
                </a:lnTo>
                <a:lnTo>
                  <a:pt x="6951825" y="4027536"/>
                </a:lnTo>
                <a:lnTo>
                  <a:pt x="7270317" y="4027536"/>
                </a:lnTo>
                <a:lnTo>
                  <a:pt x="7317198" y="4223989"/>
                </a:lnTo>
                <a:lnTo>
                  <a:pt x="7666200" y="4223989"/>
                </a:lnTo>
                <a:lnTo>
                  <a:pt x="7320175" y="3156892"/>
                </a:lnTo>
                <a:close/>
                <a:moveTo>
                  <a:pt x="5638120" y="3156892"/>
                </a:moveTo>
                <a:lnTo>
                  <a:pt x="5638120" y="3408411"/>
                </a:lnTo>
                <a:lnTo>
                  <a:pt x="6100231" y="3408411"/>
                </a:lnTo>
                <a:lnTo>
                  <a:pt x="5607610" y="3998514"/>
                </a:lnTo>
                <a:lnTo>
                  <a:pt x="5607610" y="4223989"/>
                </a:lnTo>
                <a:lnTo>
                  <a:pt x="6502811" y="4223989"/>
                </a:lnTo>
                <a:lnTo>
                  <a:pt x="6502811" y="3972469"/>
                </a:lnTo>
                <a:lnTo>
                  <a:pt x="6020608" y="3972469"/>
                </a:lnTo>
                <a:lnTo>
                  <a:pt x="6487184" y="3380878"/>
                </a:lnTo>
                <a:lnTo>
                  <a:pt x="6487184" y="3156892"/>
                </a:lnTo>
                <a:close/>
                <a:moveTo>
                  <a:pt x="5133742" y="3156892"/>
                </a:moveTo>
                <a:lnTo>
                  <a:pt x="5133742" y="4223989"/>
                </a:lnTo>
                <a:lnTo>
                  <a:pt x="5455210" y="4223989"/>
                </a:lnTo>
                <a:lnTo>
                  <a:pt x="5455210" y="3156892"/>
                </a:lnTo>
                <a:close/>
                <a:moveTo>
                  <a:pt x="3895492" y="3156892"/>
                </a:moveTo>
                <a:lnTo>
                  <a:pt x="3895492" y="4223989"/>
                </a:lnTo>
                <a:lnTo>
                  <a:pt x="4193148" y="4223989"/>
                </a:lnTo>
                <a:lnTo>
                  <a:pt x="4193148" y="3776016"/>
                </a:lnTo>
                <a:cubicBezTo>
                  <a:pt x="4193148" y="3710532"/>
                  <a:pt x="4191660" y="3651497"/>
                  <a:pt x="4188683" y="3598911"/>
                </a:cubicBezTo>
                <a:lnTo>
                  <a:pt x="4191660" y="3598911"/>
                </a:lnTo>
                <a:cubicBezTo>
                  <a:pt x="4210511" y="3631653"/>
                  <a:pt x="4234819" y="3668364"/>
                  <a:pt x="4264585" y="3709044"/>
                </a:cubicBezTo>
                <a:lnTo>
                  <a:pt x="4641121" y="4223989"/>
                </a:lnTo>
                <a:lnTo>
                  <a:pt x="4923150" y="4223989"/>
                </a:lnTo>
                <a:lnTo>
                  <a:pt x="4923150" y="3156892"/>
                </a:lnTo>
                <a:lnTo>
                  <a:pt x="4625493" y="3156892"/>
                </a:lnTo>
                <a:lnTo>
                  <a:pt x="4625493" y="3635374"/>
                </a:lnTo>
                <a:cubicBezTo>
                  <a:pt x="4625493" y="3688952"/>
                  <a:pt x="4626981" y="3726655"/>
                  <a:pt x="4629959" y="3748483"/>
                </a:cubicBezTo>
                <a:lnTo>
                  <a:pt x="4626981" y="3748483"/>
                </a:lnTo>
                <a:cubicBezTo>
                  <a:pt x="4624005" y="3741538"/>
                  <a:pt x="4619665" y="3733600"/>
                  <a:pt x="4613959" y="3724671"/>
                </a:cubicBezTo>
                <a:cubicBezTo>
                  <a:pt x="4608254" y="3715741"/>
                  <a:pt x="4602177" y="3706563"/>
                  <a:pt x="4595728" y="3697137"/>
                </a:cubicBezTo>
                <a:cubicBezTo>
                  <a:pt x="4589278" y="3687712"/>
                  <a:pt x="4582829" y="3678534"/>
                  <a:pt x="4576380" y="3669605"/>
                </a:cubicBezTo>
                <a:cubicBezTo>
                  <a:pt x="4569931" y="3660675"/>
                  <a:pt x="4564474" y="3652985"/>
                  <a:pt x="4560009" y="3646536"/>
                </a:cubicBezTo>
                <a:lnTo>
                  <a:pt x="4199101" y="3156892"/>
                </a:lnTo>
                <a:close/>
                <a:moveTo>
                  <a:pt x="1752367" y="3156892"/>
                </a:moveTo>
                <a:lnTo>
                  <a:pt x="1752367" y="4223989"/>
                </a:lnTo>
                <a:lnTo>
                  <a:pt x="2073835" y="4223989"/>
                </a:lnTo>
                <a:lnTo>
                  <a:pt x="2073835" y="3848942"/>
                </a:lnTo>
                <a:lnTo>
                  <a:pt x="2086486" y="3848942"/>
                </a:lnTo>
                <a:cubicBezTo>
                  <a:pt x="2115259" y="3848942"/>
                  <a:pt x="2141924" y="3861841"/>
                  <a:pt x="2166481" y="3887637"/>
                </a:cubicBezTo>
                <a:cubicBezTo>
                  <a:pt x="2191037" y="3913434"/>
                  <a:pt x="2211006" y="3948905"/>
                  <a:pt x="2226384" y="3994050"/>
                </a:cubicBezTo>
                <a:lnTo>
                  <a:pt x="2306007" y="4223989"/>
                </a:lnTo>
                <a:lnTo>
                  <a:pt x="2668404" y="4223989"/>
                </a:lnTo>
                <a:lnTo>
                  <a:pt x="2563480" y="3952378"/>
                </a:lnTo>
                <a:cubicBezTo>
                  <a:pt x="2539668" y="3890862"/>
                  <a:pt x="2512754" y="3844477"/>
                  <a:pt x="2482740" y="3813223"/>
                </a:cubicBezTo>
                <a:cubicBezTo>
                  <a:pt x="2452727" y="3781969"/>
                  <a:pt x="2415148" y="3759397"/>
                  <a:pt x="2370003" y="3745507"/>
                </a:cubicBezTo>
                <a:lnTo>
                  <a:pt x="2370003" y="3742530"/>
                </a:lnTo>
                <a:cubicBezTo>
                  <a:pt x="2451859" y="3720206"/>
                  <a:pt x="2513499" y="3684239"/>
                  <a:pt x="2554922" y="3634630"/>
                </a:cubicBezTo>
                <a:cubicBezTo>
                  <a:pt x="2596346" y="3585020"/>
                  <a:pt x="2617058" y="3523505"/>
                  <a:pt x="2617058" y="3450083"/>
                </a:cubicBezTo>
                <a:cubicBezTo>
                  <a:pt x="2617058" y="3352352"/>
                  <a:pt x="2581463" y="3279055"/>
                  <a:pt x="2510274" y="3230190"/>
                </a:cubicBezTo>
                <a:cubicBezTo>
                  <a:pt x="2439085" y="3181324"/>
                  <a:pt x="2328828" y="3156892"/>
                  <a:pt x="2179503" y="3156892"/>
                </a:cubicBezTo>
                <a:close/>
                <a:moveTo>
                  <a:pt x="9784322" y="3139033"/>
                </a:moveTo>
                <a:cubicBezTo>
                  <a:pt x="9678157" y="3139033"/>
                  <a:pt x="9583404" y="3162721"/>
                  <a:pt x="9500060" y="3210098"/>
                </a:cubicBezTo>
                <a:cubicBezTo>
                  <a:pt x="9416716" y="3257475"/>
                  <a:pt x="9351976" y="3324571"/>
                  <a:pt x="9305839" y="3411388"/>
                </a:cubicBezTo>
                <a:cubicBezTo>
                  <a:pt x="9259703" y="3498204"/>
                  <a:pt x="9236634" y="3595934"/>
                  <a:pt x="9236634" y="3704579"/>
                </a:cubicBezTo>
                <a:cubicBezTo>
                  <a:pt x="9236634" y="3808263"/>
                  <a:pt x="9259455" y="3901156"/>
                  <a:pt x="9305095" y="3983260"/>
                </a:cubicBezTo>
                <a:cubicBezTo>
                  <a:pt x="9350736" y="4065363"/>
                  <a:pt x="9414608" y="4129111"/>
                  <a:pt x="9496711" y="4174504"/>
                </a:cubicBezTo>
                <a:cubicBezTo>
                  <a:pt x="9578815" y="4219896"/>
                  <a:pt x="9669972" y="4242593"/>
                  <a:pt x="9770183" y="4242593"/>
                </a:cubicBezTo>
                <a:cubicBezTo>
                  <a:pt x="9872875" y="4242593"/>
                  <a:pt x="9965644" y="4219152"/>
                  <a:pt x="10048492" y="4172271"/>
                </a:cubicBezTo>
                <a:cubicBezTo>
                  <a:pt x="10131339" y="4125390"/>
                  <a:pt x="10195832" y="4059658"/>
                  <a:pt x="10241968" y="3975074"/>
                </a:cubicBezTo>
                <a:cubicBezTo>
                  <a:pt x="10288105" y="3890490"/>
                  <a:pt x="10311173" y="3794620"/>
                  <a:pt x="10311173" y="3687464"/>
                </a:cubicBezTo>
                <a:cubicBezTo>
                  <a:pt x="10311173" y="3580804"/>
                  <a:pt x="10289221" y="3485429"/>
                  <a:pt x="10245317" y="3401342"/>
                </a:cubicBezTo>
                <a:cubicBezTo>
                  <a:pt x="10201413" y="3317254"/>
                  <a:pt x="10139153" y="3252514"/>
                  <a:pt x="10058538" y="3207121"/>
                </a:cubicBezTo>
                <a:cubicBezTo>
                  <a:pt x="9977922" y="3161728"/>
                  <a:pt x="9886517" y="3139033"/>
                  <a:pt x="9784322" y="3139033"/>
                </a:cubicBezTo>
                <a:close/>
                <a:moveTo>
                  <a:pt x="3354650" y="3139033"/>
                </a:moveTo>
                <a:cubicBezTo>
                  <a:pt x="3228147" y="3139033"/>
                  <a:pt x="3118262" y="3161852"/>
                  <a:pt x="3024996" y="3207493"/>
                </a:cubicBezTo>
                <a:cubicBezTo>
                  <a:pt x="2931731" y="3253134"/>
                  <a:pt x="2859425" y="3319858"/>
                  <a:pt x="2808079" y="3407667"/>
                </a:cubicBezTo>
                <a:cubicBezTo>
                  <a:pt x="2756734" y="3495475"/>
                  <a:pt x="2731060" y="3595934"/>
                  <a:pt x="2731060" y="3709044"/>
                </a:cubicBezTo>
                <a:cubicBezTo>
                  <a:pt x="2731060" y="3877716"/>
                  <a:pt x="2781910" y="4008809"/>
                  <a:pt x="2883609" y="4102322"/>
                </a:cubicBezTo>
                <a:cubicBezTo>
                  <a:pt x="2985308" y="4195836"/>
                  <a:pt x="3129672" y="4242593"/>
                  <a:pt x="3316699" y="4242593"/>
                </a:cubicBezTo>
                <a:cubicBezTo>
                  <a:pt x="3389129" y="4242593"/>
                  <a:pt x="3465279" y="4233539"/>
                  <a:pt x="3545150" y="4215431"/>
                </a:cubicBezTo>
                <a:cubicBezTo>
                  <a:pt x="3625021" y="4197324"/>
                  <a:pt x="3685049" y="4176860"/>
                  <a:pt x="3725233" y="4154040"/>
                </a:cubicBezTo>
                <a:lnTo>
                  <a:pt x="3725233" y="3579563"/>
                </a:lnTo>
                <a:lnTo>
                  <a:pt x="3199125" y="3579563"/>
                </a:lnTo>
                <a:lnTo>
                  <a:pt x="3199125" y="3822897"/>
                </a:lnTo>
                <a:lnTo>
                  <a:pt x="3403763" y="3822897"/>
                </a:lnTo>
                <a:lnTo>
                  <a:pt x="3403763" y="3975446"/>
                </a:lnTo>
                <a:cubicBezTo>
                  <a:pt x="3386400" y="3979415"/>
                  <a:pt x="3359363" y="3981399"/>
                  <a:pt x="3322652" y="3981399"/>
                </a:cubicBezTo>
                <a:cubicBezTo>
                  <a:pt x="3243774" y="3981399"/>
                  <a:pt x="3182382" y="3956347"/>
                  <a:pt x="3138478" y="3906241"/>
                </a:cubicBezTo>
                <a:cubicBezTo>
                  <a:pt x="3094573" y="3856136"/>
                  <a:pt x="3072621" y="3786683"/>
                  <a:pt x="3072621" y="3697882"/>
                </a:cubicBezTo>
                <a:cubicBezTo>
                  <a:pt x="3072621" y="3605112"/>
                  <a:pt x="3098790" y="3532186"/>
                  <a:pt x="3151127" y="3479104"/>
                </a:cubicBezTo>
                <a:cubicBezTo>
                  <a:pt x="3203465" y="3426023"/>
                  <a:pt x="3273787" y="3399482"/>
                  <a:pt x="3362092" y="3399482"/>
                </a:cubicBezTo>
                <a:cubicBezTo>
                  <a:pt x="3415670" y="3399482"/>
                  <a:pt x="3465031" y="3403822"/>
                  <a:pt x="3510176" y="3412504"/>
                </a:cubicBezTo>
                <a:cubicBezTo>
                  <a:pt x="3555320" y="3421185"/>
                  <a:pt x="3602449" y="3436688"/>
                  <a:pt x="3651562" y="3459012"/>
                </a:cubicBezTo>
                <a:lnTo>
                  <a:pt x="3651562" y="3178472"/>
                </a:lnTo>
                <a:cubicBezTo>
                  <a:pt x="3546391" y="3152179"/>
                  <a:pt x="3447420" y="3139033"/>
                  <a:pt x="3354650" y="3139033"/>
                </a:cubicBezTo>
                <a:close/>
                <a:moveTo>
                  <a:pt x="1078473" y="3139033"/>
                </a:moveTo>
                <a:cubicBezTo>
                  <a:pt x="972309" y="3139033"/>
                  <a:pt x="877555" y="3162721"/>
                  <a:pt x="794211" y="3210098"/>
                </a:cubicBezTo>
                <a:cubicBezTo>
                  <a:pt x="710867" y="3257475"/>
                  <a:pt x="646127" y="3324571"/>
                  <a:pt x="599990" y="3411388"/>
                </a:cubicBezTo>
                <a:cubicBezTo>
                  <a:pt x="553854" y="3498204"/>
                  <a:pt x="530785" y="3595934"/>
                  <a:pt x="530785" y="3704579"/>
                </a:cubicBezTo>
                <a:cubicBezTo>
                  <a:pt x="530785" y="3808263"/>
                  <a:pt x="553605" y="3901156"/>
                  <a:pt x="599246" y="3983260"/>
                </a:cubicBezTo>
                <a:cubicBezTo>
                  <a:pt x="644887" y="4065363"/>
                  <a:pt x="708759" y="4129111"/>
                  <a:pt x="790862" y="4174504"/>
                </a:cubicBezTo>
                <a:cubicBezTo>
                  <a:pt x="872966" y="4219896"/>
                  <a:pt x="964123" y="4242593"/>
                  <a:pt x="1064334" y="4242593"/>
                </a:cubicBezTo>
                <a:cubicBezTo>
                  <a:pt x="1167026" y="4242593"/>
                  <a:pt x="1259795" y="4219152"/>
                  <a:pt x="1342643" y="4172271"/>
                </a:cubicBezTo>
                <a:cubicBezTo>
                  <a:pt x="1425490" y="4125390"/>
                  <a:pt x="1489983" y="4059658"/>
                  <a:pt x="1536119" y="3975074"/>
                </a:cubicBezTo>
                <a:cubicBezTo>
                  <a:pt x="1582256" y="3890490"/>
                  <a:pt x="1605324" y="3794620"/>
                  <a:pt x="1605324" y="3687464"/>
                </a:cubicBezTo>
                <a:cubicBezTo>
                  <a:pt x="1605324" y="3580804"/>
                  <a:pt x="1583372" y="3485429"/>
                  <a:pt x="1539468" y="3401342"/>
                </a:cubicBezTo>
                <a:cubicBezTo>
                  <a:pt x="1495564" y="3317254"/>
                  <a:pt x="1433304" y="3252514"/>
                  <a:pt x="1352689" y="3207121"/>
                </a:cubicBezTo>
                <a:cubicBezTo>
                  <a:pt x="1272073" y="3161728"/>
                  <a:pt x="1180668" y="3139033"/>
                  <a:pt x="1078473" y="3139033"/>
                </a:cubicBezTo>
                <a:close/>
                <a:moveTo>
                  <a:pt x="6667266" y="1328092"/>
                </a:moveTo>
                <a:lnTo>
                  <a:pt x="6667266" y="2395189"/>
                </a:lnTo>
                <a:lnTo>
                  <a:pt x="7356340" y="2395189"/>
                </a:lnTo>
                <a:lnTo>
                  <a:pt x="7356340" y="2143670"/>
                </a:lnTo>
                <a:lnTo>
                  <a:pt x="6988735" y="2143670"/>
                </a:lnTo>
                <a:lnTo>
                  <a:pt x="6988735" y="1986656"/>
                </a:lnTo>
                <a:lnTo>
                  <a:pt x="7310947" y="1986656"/>
                </a:lnTo>
                <a:lnTo>
                  <a:pt x="7310947" y="1735136"/>
                </a:lnTo>
                <a:lnTo>
                  <a:pt x="6988735" y="1735136"/>
                </a:lnTo>
                <a:lnTo>
                  <a:pt x="6988735" y="1579611"/>
                </a:lnTo>
                <a:lnTo>
                  <a:pt x="7331783" y="1579611"/>
                </a:lnTo>
                <a:lnTo>
                  <a:pt x="7331783" y="1328092"/>
                </a:lnTo>
                <a:close/>
                <a:moveTo>
                  <a:pt x="5838591" y="1328092"/>
                </a:moveTo>
                <a:lnTo>
                  <a:pt x="5838591" y="2395189"/>
                </a:lnTo>
                <a:lnTo>
                  <a:pt x="6527665" y="2395189"/>
                </a:lnTo>
                <a:lnTo>
                  <a:pt x="6527665" y="2143670"/>
                </a:lnTo>
                <a:lnTo>
                  <a:pt x="6160060" y="2143670"/>
                </a:lnTo>
                <a:lnTo>
                  <a:pt x="6160060" y="1328092"/>
                </a:lnTo>
                <a:close/>
                <a:moveTo>
                  <a:pt x="5305191" y="1328092"/>
                </a:moveTo>
                <a:lnTo>
                  <a:pt x="5305191" y="2395189"/>
                </a:lnTo>
                <a:lnTo>
                  <a:pt x="5626660" y="2395189"/>
                </a:lnTo>
                <a:lnTo>
                  <a:pt x="5626660" y="1328092"/>
                </a:lnTo>
                <a:close/>
                <a:moveTo>
                  <a:pt x="4476516" y="1328092"/>
                </a:moveTo>
                <a:lnTo>
                  <a:pt x="4476516" y="2395189"/>
                </a:lnTo>
                <a:lnTo>
                  <a:pt x="4797985" y="2395189"/>
                </a:lnTo>
                <a:lnTo>
                  <a:pt x="4797985" y="2023119"/>
                </a:lnTo>
                <a:lnTo>
                  <a:pt x="5114989" y="2023119"/>
                </a:lnTo>
                <a:lnTo>
                  <a:pt x="5114989" y="1771600"/>
                </a:lnTo>
                <a:lnTo>
                  <a:pt x="4797985" y="1771600"/>
                </a:lnTo>
                <a:lnTo>
                  <a:pt x="4797985" y="1579611"/>
                </a:lnTo>
                <a:lnTo>
                  <a:pt x="5145499" y="1579611"/>
                </a:lnTo>
                <a:lnTo>
                  <a:pt x="5145499" y="1328092"/>
                </a:lnTo>
                <a:close/>
                <a:moveTo>
                  <a:pt x="5075970" y="616840"/>
                </a:moveTo>
                <a:lnTo>
                  <a:pt x="5107595" y="616840"/>
                </a:lnTo>
                <a:cubicBezTo>
                  <a:pt x="5116774" y="616840"/>
                  <a:pt x="5124153" y="619320"/>
                  <a:pt x="5129734" y="624281"/>
                </a:cubicBezTo>
                <a:cubicBezTo>
                  <a:pt x="5135315" y="629242"/>
                  <a:pt x="5138106" y="635567"/>
                  <a:pt x="5138106" y="643257"/>
                </a:cubicBezTo>
                <a:cubicBezTo>
                  <a:pt x="5138106" y="651938"/>
                  <a:pt x="5134943" y="658791"/>
                  <a:pt x="5128617" y="663814"/>
                </a:cubicBezTo>
                <a:cubicBezTo>
                  <a:pt x="5122293" y="668837"/>
                  <a:pt x="5113673" y="671348"/>
                  <a:pt x="5102758" y="671348"/>
                </a:cubicBezTo>
                <a:lnTo>
                  <a:pt x="5075970" y="671348"/>
                </a:lnTo>
                <a:close/>
                <a:moveTo>
                  <a:pt x="6542819" y="521590"/>
                </a:moveTo>
                <a:lnTo>
                  <a:pt x="6563469" y="521590"/>
                </a:lnTo>
                <a:cubicBezTo>
                  <a:pt x="6576740" y="521590"/>
                  <a:pt x="6588274" y="524442"/>
                  <a:pt x="6598072" y="530147"/>
                </a:cubicBezTo>
                <a:cubicBezTo>
                  <a:pt x="6607870" y="535852"/>
                  <a:pt x="6615404" y="543914"/>
                  <a:pt x="6620675" y="554332"/>
                </a:cubicBezTo>
                <a:cubicBezTo>
                  <a:pt x="6625946" y="564750"/>
                  <a:pt x="6628582" y="576470"/>
                  <a:pt x="6628582" y="589493"/>
                </a:cubicBezTo>
                <a:cubicBezTo>
                  <a:pt x="6628582" y="611817"/>
                  <a:pt x="6622845" y="629583"/>
                  <a:pt x="6611373" y="642792"/>
                </a:cubicBezTo>
                <a:cubicBezTo>
                  <a:pt x="6599901" y="656000"/>
                  <a:pt x="6584553" y="662604"/>
                  <a:pt x="6565330" y="662604"/>
                </a:cubicBezTo>
                <a:lnTo>
                  <a:pt x="6542819" y="662604"/>
                </a:lnTo>
                <a:close/>
                <a:moveTo>
                  <a:pt x="6291486" y="516753"/>
                </a:moveTo>
                <a:lnTo>
                  <a:pt x="6293346" y="516753"/>
                </a:lnTo>
                <a:cubicBezTo>
                  <a:pt x="6294338" y="526055"/>
                  <a:pt x="6296137" y="536038"/>
                  <a:pt x="6298741" y="546704"/>
                </a:cubicBezTo>
                <a:lnTo>
                  <a:pt x="6317345" y="619258"/>
                </a:lnTo>
                <a:lnTo>
                  <a:pt x="6266371" y="619258"/>
                </a:lnTo>
                <a:cubicBezTo>
                  <a:pt x="6279890" y="567540"/>
                  <a:pt x="6287393" y="538271"/>
                  <a:pt x="6288881" y="531450"/>
                </a:cubicBezTo>
                <a:cubicBezTo>
                  <a:pt x="6290370" y="524628"/>
                  <a:pt x="6291238" y="519729"/>
                  <a:pt x="6291486" y="516753"/>
                </a:cubicBezTo>
                <a:close/>
                <a:moveTo>
                  <a:pt x="5767612" y="516753"/>
                </a:moveTo>
                <a:lnTo>
                  <a:pt x="5769471" y="516753"/>
                </a:lnTo>
                <a:cubicBezTo>
                  <a:pt x="5770463" y="526055"/>
                  <a:pt x="5772262" y="536038"/>
                  <a:pt x="5774867" y="546704"/>
                </a:cubicBezTo>
                <a:lnTo>
                  <a:pt x="5793470" y="619258"/>
                </a:lnTo>
                <a:lnTo>
                  <a:pt x="5742496" y="619258"/>
                </a:lnTo>
                <a:cubicBezTo>
                  <a:pt x="5756015" y="567540"/>
                  <a:pt x="5763518" y="538271"/>
                  <a:pt x="5765006" y="531450"/>
                </a:cubicBezTo>
                <a:cubicBezTo>
                  <a:pt x="5766495" y="524628"/>
                  <a:pt x="5767363" y="519729"/>
                  <a:pt x="5767612" y="516753"/>
                </a:cubicBezTo>
                <a:close/>
                <a:moveTo>
                  <a:pt x="5377086" y="516753"/>
                </a:moveTo>
                <a:lnTo>
                  <a:pt x="5378946" y="516753"/>
                </a:lnTo>
                <a:cubicBezTo>
                  <a:pt x="5379939" y="526055"/>
                  <a:pt x="5381737" y="536038"/>
                  <a:pt x="5384341" y="546704"/>
                </a:cubicBezTo>
                <a:lnTo>
                  <a:pt x="5402945" y="619258"/>
                </a:lnTo>
                <a:lnTo>
                  <a:pt x="5351971" y="619258"/>
                </a:lnTo>
                <a:cubicBezTo>
                  <a:pt x="5365490" y="567540"/>
                  <a:pt x="5372994" y="538271"/>
                  <a:pt x="5374482" y="531450"/>
                </a:cubicBezTo>
                <a:cubicBezTo>
                  <a:pt x="5375970" y="524628"/>
                  <a:pt x="5376838" y="519729"/>
                  <a:pt x="5377086" y="516753"/>
                </a:cubicBezTo>
                <a:close/>
                <a:moveTo>
                  <a:pt x="5075970" y="512474"/>
                </a:moveTo>
                <a:lnTo>
                  <a:pt x="5090852" y="512474"/>
                </a:lnTo>
                <a:cubicBezTo>
                  <a:pt x="5116774" y="512474"/>
                  <a:pt x="5129734" y="520722"/>
                  <a:pt x="5129734" y="537217"/>
                </a:cubicBezTo>
                <a:cubicBezTo>
                  <a:pt x="5129734" y="544782"/>
                  <a:pt x="5126881" y="550952"/>
                  <a:pt x="5121177" y="555727"/>
                </a:cubicBezTo>
                <a:cubicBezTo>
                  <a:pt x="5115471" y="560502"/>
                  <a:pt x="5108154" y="562890"/>
                  <a:pt x="5099224" y="562890"/>
                </a:cubicBezTo>
                <a:lnTo>
                  <a:pt x="5075970" y="562890"/>
                </a:lnTo>
                <a:close/>
                <a:moveTo>
                  <a:pt x="7302996" y="458710"/>
                </a:moveTo>
                <a:lnTo>
                  <a:pt x="7385224" y="633955"/>
                </a:lnTo>
                <a:lnTo>
                  <a:pt x="7385224" y="725484"/>
                </a:lnTo>
                <a:lnTo>
                  <a:pt x="7465591" y="725484"/>
                </a:lnTo>
                <a:lnTo>
                  <a:pt x="7465591" y="632839"/>
                </a:lnTo>
                <a:lnTo>
                  <a:pt x="7550609" y="458710"/>
                </a:lnTo>
                <a:lnTo>
                  <a:pt x="7465591" y="458710"/>
                </a:lnTo>
                <a:lnTo>
                  <a:pt x="7437128" y="544100"/>
                </a:lnTo>
                <a:cubicBezTo>
                  <a:pt x="7435143" y="550301"/>
                  <a:pt x="7433345" y="559045"/>
                  <a:pt x="7431733" y="570331"/>
                </a:cubicBezTo>
                <a:lnTo>
                  <a:pt x="7430988" y="570331"/>
                </a:lnTo>
                <a:cubicBezTo>
                  <a:pt x="7429996" y="565990"/>
                  <a:pt x="7429097" y="561711"/>
                  <a:pt x="7428291" y="557495"/>
                </a:cubicBezTo>
                <a:cubicBezTo>
                  <a:pt x="7427485" y="553278"/>
                  <a:pt x="7426090" y="548317"/>
                  <a:pt x="7424105" y="542612"/>
                </a:cubicBezTo>
                <a:lnTo>
                  <a:pt x="7395270" y="458710"/>
                </a:lnTo>
                <a:close/>
                <a:moveTo>
                  <a:pt x="6957752" y="458710"/>
                </a:moveTo>
                <a:lnTo>
                  <a:pt x="6957752" y="725484"/>
                </a:lnTo>
                <a:lnTo>
                  <a:pt x="7028259" y="725484"/>
                </a:lnTo>
                <a:lnTo>
                  <a:pt x="7028259" y="599725"/>
                </a:lnTo>
                <a:cubicBezTo>
                  <a:pt x="7028259" y="589307"/>
                  <a:pt x="7027391" y="563262"/>
                  <a:pt x="7025655" y="521590"/>
                </a:cubicBezTo>
                <a:lnTo>
                  <a:pt x="7027887" y="521590"/>
                </a:lnTo>
                <a:cubicBezTo>
                  <a:pt x="7032600" y="547883"/>
                  <a:pt x="7035515" y="563014"/>
                  <a:pt x="7036631" y="566982"/>
                </a:cubicBezTo>
                <a:lnTo>
                  <a:pt x="7077745" y="725484"/>
                </a:lnTo>
                <a:lnTo>
                  <a:pt x="7153275" y="725484"/>
                </a:lnTo>
                <a:lnTo>
                  <a:pt x="7192529" y="565122"/>
                </a:lnTo>
                <a:cubicBezTo>
                  <a:pt x="7194637" y="557061"/>
                  <a:pt x="7197676" y="542550"/>
                  <a:pt x="7201644" y="521590"/>
                </a:cubicBezTo>
                <a:lnTo>
                  <a:pt x="7203877" y="521590"/>
                </a:lnTo>
                <a:lnTo>
                  <a:pt x="7203319" y="533868"/>
                </a:lnTo>
                <a:cubicBezTo>
                  <a:pt x="7202450" y="550363"/>
                  <a:pt x="7202016" y="565494"/>
                  <a:pt x="7202016" y="579261"/>
                </a:cubicBezTo>
                <a:lnTo>
                  <a:pt x="7202016" y="725484"/>
                </a:lnTo>
                <a:lnTo>
                  <a:pt x="7281267" y="725484"/>
                </a:lnTo>
                <a:lnTo>
                  <a:pt x="7281267" y="458710"/>
                </a:lnTo>
                <a:lnTo>
                  <a:pt x="7162763" y="458710"/>
                </a:lnTo>
                <a:lnTo>
                  <a:pt x="7128532" y="602887"/>
                </a:lnTo>
                <a:cubicBezTo>
                  <a:pt x="7125556" y="618266"/>
                  <a:pt x="7123385" y="631599"/>
                  <a:pt x="7122021" y="642885"/>
                </a:cubicBezTo>
                <a:lnTo>
                  <a:pt x="7120905" y="642885"/>
                </a:lnTo>
                <a:cubicBezTo>
                  <a:pt x="7120533" y="637924"/>
                  <a:pt x="7119634" y="630885"/>
                  <a:pt x="7118207" y="621770"/>
                </a:cubicBezTo>
                <a:cubicBezTo>
                  <a:pt x="7116781" y="612654"/>
                  <a:pt x="7115634" y="606608"/>
                  <a:pt x="7114766" y="603631"/>
                </a:cubicBezTo>
                <a:lnTo>
                  <a:pt x="7078117" y="458710"/>
                </a:lnTo>
                <a:close/>
                <a:moveTo>
                  <a:pt x="6748202" y="458710"/>
                </a:moveTo>
                <a:lnTo>
                  <a:pt x="6748202" y="725484"/>
                </a:lnTo>
                <a:lnTo>
                  <a:pt x="6920471" y="725484"/>
                </a:lnTo>
                <a:lnTo>
                  <a:pt x="6920471" y="662604"/>
                </a:lnTo>
                <a:lnTo>
                  <a:pt x="6828569" y="662604"/>
                </a:lnTo>
                <a:lnTo>
                  <a:pt x="6828569" y="623351"/>
                </a:lnTo>
                <a:lnTo>
                  <a:pt x="6909123" y="623351"/>
                </a:lnTo>
                <a:lnTo>
                  <a:pt x="6909123" y="560471"/>
                </a:lnTo>
                <a:lnTo>
                  <a:pt x="6828569" y="560471"/>
                </a:lnTo>
                <a:lnTo>
                  <a:pt x="6828569" y="521590"/>
                </a:lnTo>
                <a:lnTo>
                  <a:pt x="6914332" y="521590"/>
                </a:lnTo>
                <a:lnTo>
                  <a:pt x="6914332" y="458710"/>
                </a:lnTo>
                <a:close/>
                <a:moveTo>
                  <a:pt x="6462452" y="458710"/>
                </a:moveTo>
                <a:lnTo>
                  <a:pt x="6462452" y="725484"/>
                </a:lnTo>
                <a:lnTo>
                  <a:pt x="6575376" y="725484"/>
                </a:lnTo>
                <a:cubicBezTo>
                  <a:pt x="6602909" y="725484"/>
                  <a:pt x="6627217" y="719841"/>
                  <a:pt x="6648301" y="708555"/>
                </a:cubicBezTo>
                <a:cubicBezTo>
                  <a:pt x="6669385" y="697269"/>
                  <a:pt x="6685601" y="681239"/>
                  <a:pt x="6696949" y="660465"/>
                </a:cubicBezTo>
                <a:cubicBezTo>
                  <a:pt x="6708298" y="639691"/>
                  <a:pt x="6713972" y="615786"/>
                  <a:pt x="6713972" y="588748"/>
                </a:cubicBezTo>
                <a:cubicBezTo>
                  <a:pt x="6713972" y="502056"/>
                  <a:pt x="6666967" y="458710"/>
                  <a:pt x="6572957" y="458710"/>
                </a:cubicBezTo>
                <a:close/>
                <a:moveTo>
                  <a:pt x="6244977" y="458710"/>
                </a:moveTo>
                <a:lnTo>
                  <a:pt x="6153076" y="725484"/>
                </a:lnTo>
                <a:lnTo>
                  <a:pt x="6239954" y="725484"/>
                </a:lnTo>
                <a:lnTo>
                  <a:pt x="6252605" y="676371"/>
                </a:lnTo>
                <a:lnTo>
                  <a:pt x="6332228" y="676371"/>
                </a:lnTo>
                <a:lnTo>
                  <a:pt x="6343948" y="725484"/>
                </a:lnTo>
                <a:lnTo>
                  <a:pt x="6431198" y="725484"/>
                </a:lnTo>
                <a:lnTo>
                  <a:pt x="6344692" y="458710"/>
                </a:lnTo>
                <a:close/>
                <a:moveTo>
                  <a:pt x="5721102" y="458710"/>
                </a:moveTo>
                <a:lnTo>
                  <a:pt x="5629201" y="725484"/>
                </a:lnTo>
                <a:lnTo>
                  <a:pt x="5716080" y="725484"/>
                </a:lnTo>
                <a:lnTo>
                  <a:pt x="5728730" y="676371"/>
                </a:lnTo>
                <a:lnTo>
                  <a:pt x="5808353" y="676371"/>
                </a:lnTo>
                <a:lnTo>
                  <a:pt x="5820073" y="725484"/>
                </a:lnTo>
                <a:lnTo>
                  <a:pt x="5907323" y="725484"/>
                </a:lnTo>
                <a:lnTo>
                  <a:pt x="5820817" y="458710"/>
                </a:lnTo>
                <a:close/>
                <a:moveTo>
                  <a:pt x="5330578" y="458710"/>
                </a:moveTo>
                <a:lnTo>
                  <a:pt x="5238676" y="725484"/>
                </a:lnTo>
                <a:lnTo>
                  <a:pt x="5325554" y="725484"/>
                </a:lnTo>
                <a:lnTo>
                  <a:pt x="5338205" y="676371"/>
                </a:lnTo>
                <a:lnTo>
                  <a:pt x="5417828" y="676371"/>
                </a:lnTo>
                <a:lnTo>
                  <a:pt x="5429548" y="725484"/>
                </a:lnTo>
                <a:lnTo>
                  <a:pt x="5516799" y="725484"/>
                </a:lnTo>
                <a:lnTo>
                  <a:pt x="5430292" y="458710"/>
                </a:lnTo>
                <a:close/>
                <a:moveTo>
                  <a:pt x="4995602" y="458710"/>
                </a:moveTo>
                <a:lnTo>
                  <a:pt x="4995602" y="725484"/>
                </a:lnTo>
                <a:lnTo>
                  <a:pt x="5117269" y="725484"/>
                </a:lnTo>
                <a:cubicBezTo>
                  <a:pt x="5151376" y="725484"/>
                  <a:pt x="5177607" y="718384"/>
                  <a:pt x="5195962" y="704183"/>
                </a:cubicBezTo>
                <a:cubicBezTo>
                  <a:pt x="5214318" y="689983"/>
                  <a:pt x="5223495" y="669798"/>
                  <a:pt x="5223495" y="643629"/>
                </a:cubicBezTo>
                <a:cubicBezTo>
                  <a:pt x="5223495" y="633955"/>
                  <a:pt x="5220767" y="624622"/>
                  <a:pt x="5215310" y="615631"/>
                </a:cubicBezTo>
                <a:cubicBezTo>
                  <a:pt x="5209853" y="606639"/>
                  <a:pt x="5202102" y="599135"/>
                  <a:pt x="5192056" y="593120"/>
                </a:cubicBezTo>
                <a:cubicBezTo>
                  <a:pt x="5182009" y="587105"/>
                  <a:pt x="5170662" y="583353"/>
                  <a:pt x="5158011" y="581865"/>
                </a:cubicBezTo>
                <a:lnTo>
                  <a:pt x="5158011" y="581121"/>
                </a:lnTo>
                <a:cubicBezTo>
                  <a:pt x="5168925" y="579013"/>
                  <a:pt x="5178940" y="575044"/>
                  <a:pt x="5188056" y="569215"/>
                </a:cubicBezTo>
                <a:cubicBezTo>
                  <a:pt x="5197172" y="563386"/>
                  <a:pt x="5203962" y="556595"/>
                  <a:pt x="5208426" y="548844"/>
                </a:cubicBezTo>
                <a:cubicBezTo>
                  <a:pt x="5212891" y="541092"/>
                  <a:pt x="5215124" y="532566"/>
                  <a:pt x="5215124" y="523264"/>
                </a:cubicBezTo>
                <a:cubicBezTo>
                  <a:pt x="5215124" y="480228"/>
                  <a:pt x="5179715" y="458710"/>
                  <a:pt x="5108898" y="458710"/>
                </a:cubicBezTo>
                <a:close/>
                <a:moveTo>
                  <a:pt x="4862252" y="458710"/>
                </a:moveTo>
                <a:lnTo>
                  <a:pt x="4862252" y="725484"/>
                </a:lnTo>
                <a:lnTo>
                  <a:pt x="4942619" y="725484"/>
                </a:lnTo>
                <a:lnTo>
                  <a:pt x="4942619" y="458710"/>
                </a:lnTo>
                <a:close/>
                <a:moveTo>
                  <a:pt x="4603663" y="458710"/>
                </a:moveTo>
                <a:lnTo>
                  <a:pt x="4603663" y="521590"/>
                </a:lnTo>
                <a:lnTo>
                  <a:pt x="4678264" y="521590"/>
                </a:lnTo>
                <a:lnTo>
                  <a:pt x="4678264" y="725484"/>
                </a:lnTo>
                <a:lnTo>
                  <a:pt x="4759003" y="725484"/>
                </a:lnTo>
                <a:lnTo>
                  <a:pt x="4759003" y="521590"/>
                </a:lnTo>
                <a:lnTo>
                  <a:pt x="4834533" y="521590"/>
                </a:lnTo>
                <a:lnTo>
                  <a:pt x="4834533" y="458710"/>
                </a:lnTo>
                <a:close/>
                <a:moveTo>
                  <a:pt x="6070104" y="454245"/>
                </a:moveTo>
                <a:cubicBezTo>
                  <a:pt x="6041207" y="454245"/>
                  <a:pt x="6015658" y="460229"/>
                  <a:pt x="5993458" y="472197"/>
                </a:cubicBezTo>
                <a:cubicBezTo>
                  <a:pt x="5971258" y="484166"/>
                  <a:pt x="5954080" y="501126"/>
                  <a:pt x="5941926" y="523078"/>
                </a:cubicBezTo>
                <a:cubicBezTo>
                  <a:pt x="5929771" y="545030"/>
                  <a:pt x="5923694" y="570083"/>
                  <a:pt x="5923694" y="598236"/>
                </a:cubicBezTo>
                <a:cubicBezTo>
                  <a:pt x="5923694" y="624405"/>
                  <a:pt x="5929120" y="647505"/>
                  <a:pt x="5939972" y="667534"/>
                </a:cubicBezTo>
                <a:cubicBezTo>
                  <a:pt x="5950825" y="687564"/>
                  <a:pt x="5966545" y="703005"/>
                  <a:pt x="5987132" y="713857"/>
                </a:cubicBezTo>
                <a:cubicBezTo>
                  <a:pt x="6007720" y="724709"/>
                  <a:pt x="6032215" y="730135"/>
                  <a:pt x="6060617" y="730135"/>
                </a:cubicBezTo>
                <a:cubicBezTo>
                  <a:pt x="6089514" y="730135"/>
                  <a:pt x="6115000" y="726166"/>
                  <a:pt x="6137077" y="718229"/>
                </a:cubicBezTo>
                <a:lnTo>
                  <a:pt x="6137077" y="646605"/>
                </a:lnTo>
                <a:cubicBezTo>
                  <a:pt x="6117233" y="656527"/>
                  <a:pt x="6097575" y="661488"/>
                  <a:pt x="6078104" y="661488"/>
                </a:cubicBezTo>
                <a:cubicBezTo>
                  <a:pt x="6057020" y="661488"/>
                  <a:pt x="6040183" y="655318"/>
                  <a:pt x="6027595" y="642978"/>
                </a:cubicBezTo>
                <a:cubicBezTo>
                  <a:pt x="6015007" y="630637"/>
                  <a:pt x="6008713" y="613801"/>
                  <a:pt x="6008713" y="592469"/>
                </a:cubicBezTo>
                <a:cubicBezTo>
                  <a:pt x="6008713" y="571013"/>
                  <a:pt x="6015007" y="554022"/>
                  <a:pt x="6027595" y="541496"/>
                </a:cubicBezTo>
                <a:cubicBezTo>
                  <a:pt x="6040183" y="528969"/>
                  <a:pt x="6057392" y="522706"/>
                  <a:pt x="6079220" y="522706"/>
                </a:cubicBezTo>
                <a:cubicBezTo>
                  <a:pt x="6089762" y="522706"/>
                  <a:pt x="6100180" y="523946"/>
                  <a:pt x="6110474" y="526427"/>
                </a:cubicBezTo>
                <a:cubicBezTo>
                  <a:pt x="6120768" y="528907"/>
                  <a:pt x="6129635" y="532380"/>
                  <a:pt x="6137077" y="536845"/>
                </a:cubicBezTo>
                <a:lnTo>
                  <a:pt x="6137077" y="462617"/>
                </a:lnTo>
                <a:cubicBezTo>
                  <a:pt x="6115497" y="457036"/>
                  <a:pt x="6093172" y="454245"/>
                  <a:pt x="6070104" y="45424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708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ptos ExtraBold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Supermarket Sales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ptos ExtraBold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Using Power Bi &amp; Excel &amp; some python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-5395545" y="2340140"/>
            <a:ext cx="4846320" cy="4040574"/>
          </a:xfrm>
        </p:spPr>
        <p:txBody>
          <a:bodyPr/>
          <a:lstStyle/>
          <a:p>
            <a:r>
              <a:rPr lang="en-US" dirty="0">
                <a:latin typeface="Aptos ExtraBold" panose="020B0004020202020204" pitchFamily="34" charset="0"/>
              </a:rPr>
              <a:t>Total Revenue</a:t>
            </a:r>
          </a:p>
          <a:p>
            <a:r>
              <a:rPr lang="en-US" dirty="0"/>
              <a:t>The total value of all sales generated during a specific period.</a:t>
            </a:r>
          </a:p>
          <a:p>
            <a:endParaRPr lang="en-US" dirty="0">
              <a:latin typeface="Aptos ExtraBold" panose="020B0004020202020204" pitchFamily="34" charset="0"/>
            </a:endParaRPr>
          </a:p>
          <a:p>
            <a:r>
              <a:rPr lang="en-US" dirty="0">
                <a:latin typeface="Aptos ExtraBold" panose="020B0004020202020204" pitchFamily="34" charset="0"/>
              </a:rPr>
              <a:t>Average Revenue per Invoice</a:t>
            </a:r>
          </a:p>
          <a:p>
            <a:r>
              <a:rPr lang="en-US" dirty="0"/>
              <a:t>Average amount spent by a customer per transaction.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658038" y="2340140"/>
            <a:ext cx="4846320" cy="4040574"/>
          </a:xfrm>
        </p:spPr>
        <p:txBody>
          <a:bodyPr/>
          <a:lstStyle/>
          <a:p>
            <a:r>
              <a:rPr lang="en-US" dirty="0">
                <a:latin typeface="Aptos ExtraBold" panose="020B0004020202020204" pitchFamily="34" charset="0"/>
              </a:rPr>
              <a:t>Total Number of Invoices</a:t>
            </a:r>
          </a:p>
          <a:p>
            <a:r>
              <a:rPr lang="en-US" dirty="0"/>
              <a:t>Total number of completed transactions.</a:t>
            </a:r>
          </a:p>
          <a:p>
            <a:endParaRPr lang="en-US" dirty="0">
              <a:latin typeface="Aptos ExtraBold" panose="020B0004020202020204" pitchFamily="34" charset="0"/>
            </a:endParaRPr>
          </a:p>
          <a:p>
            <a:r>
              <a:rPr lang="en-US" b="1" dirty="0"/>
              <a:t>Average Quantity per Invoice</a:t>
            </a:r>
          </a:p>
          <a:p>
            <a:r>
              <a:rPr lang="en-US" dirty="0"/>
              <a:t>Average number of items purchased per transaction.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3E21F-BBAC-309F-B6B0-443891AD1D27}"/>
              </a:ext>
            </a:extLst>
          </p:cNvPr>
          <p:cNvSpPr txBox="1"/>
          <p:nvPr/>
        </p:nvSpPr>
        <p:spPr>
          <a:xfrm>
            <a:off x="1171388" y="528086"/>
            <a:ext cx="17972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Aptos ExtraBold" panose="020B0004020202020204" pitchFamily="34" charset="0"/>
              </a:rPr>
              <a:t>KPIs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15F84-21A2-0D0A-E0E8-C019EAC56BF2}"/>
              </a:ext>
            </a:extLst>
          </p:cNvPr>
          <p:cNvSpPr txBox="1"/>
          <p:nvPr/>
        </p:nvSpPr>
        <p:spPr>
          <a:xfrm>
            <a:off x="-5752341" y="1744578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Financial KPIs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DC028-6B8F-B7F4-DBC9-D56FFCA74F63}"/>
              </a:ext>
            </a:extLst>
          </p:cNvPr>
          <p:cNvSpPr txBox="1"/>
          <p:nvPr/>
        </p:nvSpPr>
        <p:spPr>
          <a:xfrm>
            <a:off x="12192000" y="1744577"/>
            <a:ext cx="2694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Sales &amp; Operations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CF47-786F-DCF4-EB4D-341D5BCC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63631-4EE0-864F-B53A-F8DCD07D8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dirty="0">
                <a:latin typeface="Aptos ExtraBold" panose="020B0004020202020204" pitchFamily="34" charset="0"/>
              </a:rPr>
              <a:t>Total Revenue</a:t>
            </a:r>
          </a:p>
          <a:p>
            <a:r>
              <a:rPr lang="en-US" dirty="0"/>
              <a:t>The total value of all sales generated during a specific period.</a:t>
            </a:r>
          </a:p>
          <a:p>
            <a:endParaRPr lang="en-US" dirty="0">
              <a:latin typeface="Aptos ExtraBold" panose="020B0004020202020204" pitchFamily="34" charset="0"/>
            </a:endParaRPr>
          </a:p>
          <a:p>
            <a:r>
              <a:rPr lang="en-US" dirty="0">
                <a:latin typeface="Aptos ExtraBold" panose="020B0004020202020204" pitchFamily="34" charset="0"/>
              </a:rPr>
              <a:t>Average Revenue per Invoice</a:t>
            </a:r>
          </a:p>
          <a:p>
            <a:r>
              <a:rPr lang="en-US" dirty="0"/>
              <a:t>Average amount spent by a customer per transaction.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F223B-2AF2-1C2D-EBA9-CB9C1A6F9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dirty="0">
                <a:latin typeface="Aptos ExtraBold" panose="020B0004020202020204" pitchFamily="34" charset="0"/>
              </a:rPr>
              <a:t>Total Number of Invoices</a:t>
            </a:r>
          </a:p>
          <a:p>
            <a:r>
              <a:rPr lang="en-US" dirty="0"/>
              <a:t>Total number of completed transactions.</a:t>
            </a:r>
          </a:p>
          <a:p>
            <a:endParaRPr lang="en-US" dirty="0">
              <a:latin typeface="Aptos ExtraBold" panose="020B0004020202020204" pitchFamily="34" charset="0"/>
            </a:endParaRPr>
          </a:p>
          <a:p>
            <a:r>
              <a:rPr lang="en-US" b="1" dirty="0"/>
              <a:t>Average Quantity per Invoice</a:t>
            </a:r>
          </a:p>
          <a:p>
            <a:r>
              <a:rPr lang="en-US" dirty="0"/>
              <a:t>Average number of items purchased per transaction.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5DCC3-3A7B-8535-5E33-3DD4E5B7E8FC}"/>
              </a:ext>
            </a:extLst>
          </p:cNvPr>
          <p:cNvSpPr txBox="1"/>
          <p:nvPr/>
        </p:nvSpPr>
        <p:spPr>
          <a:xfrm>
            <a:off x="923364" y="1731878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Financial KPIs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387D7-56F3-B941-A412-8C8B42C97B14}"/>
              </a:ext>
            </a:extLst>
          </p:cNvPr>
          <p:cNvSpPr txBox="1"/>
          <p:nvPr/>
        </p:nvSpPr>
        <p:spPr>
          <a:xfrm>
            <a:off x="6257364" y="1731878"/>
            <a:ext cx="2694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Sales &amp; Operations KPIs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AD8519-81E7-43DD-B390-684D36DFEDB8}"/>
              </a:ext>
            </a:extLst>
          </p:cNvPr>
          <p:cNvSpPr txBox="1"/>
          <p:nvPr/>
        </p:nvSpPr>
        <p:spPr>
          <a:xfrm>
            <a:off x="1171388" y="528086"/>
            <a:ext cx="17972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Aptos ExtraBold" panose="020B0004020202020204" pitchFamily="34" charset="0"/>
              </a:rPr>
              <a:t>KPIs</a:t>
            </a:r>
            <a:endParaRPr lang="en-US" dirty="0"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414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15A15F-6793-05A1-6C8D-4E88FE7FA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r="13593"/>
          <a:stretch>
            <a:fillRect/>
          </a:stretch>
        </p:blipFill>
        <p:spPr>
          <a:xfrm>
            <a:off x="-8454566" y="-1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5B48002-25D4-74E9-D42A-D65F6F072BE0}"/>
              </a:ext>
            </a:extLst>
          </p:cNvPr>
          <p:cNvSpPr txBox="1"/>
          <p:nvPr/>
        </p:nvSpPr>
        <p:spPr>
          <a:xfrm>
            <a:off x="249631" y="152400"/>
            <a:ext cx="256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ExtraBold" panose="020B0004020202020204" pitchFamily="34" charset="0"/>
              </a:rPr>
              <a:t>Supermarket Sales Dashboard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174F2-A2A6-CC9E-723C-06C30B8AF7AC}"/>
              </a:ext>
            </a:extLst>
          </p:cNvPr>
          <p:cNvSpPr txBox="1"/>
          <p:nvPr/>
        </p:nvSpPr>
        <p:spPr>
          <a:xfrm>
            <a:off x="-2965299" y="1230690"/>
            <a:ext cx="26750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⭐ </a:t>
            </a:r>
            <a:r>
              <a:rPr lang="en-US" b="1" dirty="0">
                <a:solidFill>
                  <a:schemeClr val="bg1"/>
                </a:solidFill>
              </a:rPr>
              <a:t>Top KPIs at a glance: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-Total Sales: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322.97K</a:t>
            </a:r>
          </a:p>
          <a:p>
            <a:r>
              <a:rPr lang="en-US" b="1" dirty="0">
                <a:solidFill>
                  <a:schemeClr val="bg1"/>
                </a:solidFill>
              </a:rPr>
              <a:t>-Gross Income: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15.38K</a:t>
            </a:r>
          </a:p>
          <a:p>
            <a:r>
              <a:rPr lang="en-US" b="1" dirty="0">
                <a:solidFill>
                  <a:schemeClr val="bg1"/>
                </a:solidFill>
              </a:rPr>
              <a:t>-Total Quantity Sold: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6K</a:t>
            </a:r>
          </a:p>
          <a:p>
            <a:r>
              <a:rPr lang="en-US" b="1" dirty="0">
                <a:solidFill>
                  <a:schemeClr val="bg1"/>
                </a:solidFill>
              </a:rPr>
              <a:t>-Total Invoices: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1K</a:t>
            </a:r>
          </a:p>
          <a:p>
            <a:r>
              <a:rPr lang="en-US" b="1" dirty="0">
                <a:solidFill>
                  <a:schemeClr val="bg1"/>
                </a:solidFill>
              </a:rPr>
              <a:t>-Average Rating: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6.97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10EFA-EECA-E268-8574-CF0C85F35B23}"/>
              </a:ext>
            </a:extLst>
          </p:cNvPr>
          <p:cNvSpPr txBox="1"/>
          <p:nvPr/>
        </p:nvSpPr>
        <p:spPr>
          <a:xfrm>
            <a:off x="249631" y="7010602"/>
            <a:ext cx="2675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dashboard effectively visualizes the supermarket’s sales data, allowing easy interpretation of complex information. It supports </a:t>
            </a:r>
            <a:r>
              <a:rPr lang="en-US" b="1" dirty="0">
                <a:solidFill>
                  <a:schemeClr val="bg1"/>
                </a:solidFill>
              </a:rPr>
              <a:t>data-driven decision-making</a:t>
            </a:r>
            <a:r>
              <a:rPr lang="en-US" dirty="0">
                <a:solidFill>
                  <a:schemeClr val="bg1"/>
                </a:solidFill>
              </a:rPr>
              <a:t> in sales planning, inventory management, customer experience, and market strategy.</a:t>
            </a:r>
          </a:p>
        </p:txBody>
      </p:sp>
    </p:spTree>
    <p:extLst>
      <p:ext uri="{BB962C8B-B14F-4D97-AF65-F5344CB8AC3E}">
        <p14:creationId xmlns:p14="http://schemas.microsoft.com/office/powerpoint/2010/main" val="389931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EFD23-D1CE-5089-19DC-0D1A0CB0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193715-2A38-9B7E-3036-61A261F4B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r="13593"/>
          <a:stretch>
            <a:fillRect/>
          </a:stretch>
        </p:blipFill>
        <p:spPr>
          <a:xfrm>
            <a:off x="3882571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5A05EA7-1ADF-D3DD-BD5E-9383A2311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2485CBE-D4B5-475F-A803-15F977707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874AF3D-A555-C5AD-4A45-263771A66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42549F7-C657-2040-7B74-48D6005AED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5E1E675C-A8BF-9B9A-5F3D-C105FA3159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859C16B-6365-5E6E-D7B9-1852C4B774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7025539-2A06-96F6-D7A6-EA255CC33E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4460F93E-9AA0-4713-723F-FF8F76877C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C86952E0-F0D7-26C6-C66A-92312B8F75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B4EBD7-DF64-F491-0E9B-BE7CC1A7E6B6}"/>
              </a:ext>
            </a:extLst>
          </p:cNvPr>
          <p:cNvSpPr txBox="1"/>
          <p:nvPr/>
        </p:nvSpPr>
        <p:spPr>
          <a:xfrm>
            <a:off x="249631" y="152400"/>
            <a:ext cx="256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ExtraBold" panose="020B0004020202020204" pitchFamily="34" charset="0"/>
              </a:rPr>
              <a:t>Supermarket Sales Dashboard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74FE6-AB63-1A99-257C-33FF35249DBA}"/>
              </a:ext>
            </a:extLst>
          </p:cNvPr>
          <p:cNvSpPr txBox="1"/>
          <p:nvPr/>
        </p:nvSpPr>
        <p:spPr>
          <a:xfrm>
            <a:off x="197001" y="1217990"/>
            <a:ext cx="26750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⭐ </a:t>
            </a:r>
            <a:r>
              <a:rPr lang="en-US" b="1" dirty="0">
                <a:solidFill>
                  <a:schemeClr val="bg1"/>
                </a:solidFill>
              </a:rPr>
              <a:t>Top KPIs at a glance: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-Total Sales: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322.97K</a:t>
            </a:r>
          </a:p>
          <a:p>
            <a:r>
              <a:rPr lang="en-US" b="1" dirty="0">
                <a:solidFill>
                  <a:schemeClr val="bg1"/>
                </a:solidFill>
              </a:rPr>
              <a:t>-Gross Income: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15.38K</a:t>
            </a:r>
          </a:p>
          <a:p>
            <a:r>
              <a:rPr lang="en-US" b="1" dirty="0">
                <a:solidFill>
                  <a:schemeClr val="bg1"/>
                </a:solidFill>
              </a:rPr>
              <a:t>-Total Quantity Sold: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6K</a:t>
            </a:r>
          </a:p>
          <a:p>
            <a:r>
              <a:rPr lang="en-US" b="1" dirty="0">
                <a:solidFill>
                  <a:schemeClr val="bg1"/>
                </a:solidFill>
              </a:rPr>
              <a:t>-Total Invoices: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1K</a:t>
            </a:r>
          </a:p>
          <a:p>
            <a:r>
              <a:rPr lang="en-US" b="1" dirty="0">
                <a:solidFill>
                  <a:schemeClr val="bg1"/>
                </a:solidFill>
              </a:rPr>
              <a:t>-Average Rating: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808000"/>
                </a:highlight>
              </a:rPr>
              <a:t>6.97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F23BB-447A-DEC7-0918-C33566028800}"/>
              </a:ext>
            </a:extLst>
          </p:cNvPr>
          <p:cNvSpPr txBox="1"/>
          <p:nvPr/>
        </p:nvSpPr>
        <p:spPr>
          <a:xfrm>
            <a:off x="249631" y="3249315"/>
            <a:ext cx="2675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dashboard effectively visualizes the supermarket’s sales data, allowing easy interpretation of complex information. It supports </a:t>
            </a:r>
            <a:r>
              <a:rPr lang="en-US" b="1" dirty="0">
                <a:solidFill>
                  <a:schemeClr val="bg1"/>
                </a:solidFill>
              </a:rPr>
              <a:t>data-driven decision-making</a:t>
            </a:r>
            <a:r>
              <a:rPr lang="en-US" dirty="0">
                <a:solidFill>
                  <a:schemeClr val="bg1"/>
                </a:solidFill>
              </a:rPr>
              <a:t> in sales planning, inventory management, customer experience, and market strategy.</a:t>
            </a:r>
          </a:p>
        </p:txBody>
      </p:sp>
    </p:spTree>
    <p:extLst>
      <p:ext uri="{BB962C8B-B14F-4D97-AF65-F5344CB8AC3E}">
        <p14:creationId xmlns:p14="http://schemas.microsoft.com/office/powerpoint/2010/main" val="941212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DB80C-B726-47A5-EFCE-E2E67DBC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BBC9E15-BB5F-BFEB-5EDC-820D9AD40134}"/>
              </a:ext>
            </a:extLst>
          </p:cNvPr>
          <p:cNvSpPr/>
          <p:nvPr/>
        </p:nvSpPr>
        <p:spPr>
          <a:xfrm>
            <a:off x="4076700" y="-1"/>
            <a:ext cx="4977376" cy="6857990"/>
          </a:xfrm>
          <a:custGeom>
            <a:avLst/>
            <a:gdLst>
              <a:gd name="csX0" fmla="*/ 0 w 4977376"/>
              <a:gd name="csY0" fmla="*/ 0 h 6857990"/>
              <a:gd name="csX1" fmla="*/ 4163298 w 4977376"/>
              <a:gd name="csY1" fmla="*/ 0 h 6857990"/>
              <a:gd name="csX2" fmla="*/ 4163616 w 4977376"/>
              <a:gd name="csY2" fmla="*/ 21432 h 6857990"/>
              <a:gd name="csX3" fmla="*/ 4286250 w 4977376"/>
              <a:gd name="csY3" fmla="*/ 685801 h 6857990"/>
              <a:gd name="csX4" fmla="*/ 4972050 w 4977376"/>
              <a:gd name="csY4" fmla="*/ 2038351 h 6857990"/>
              <a:gd name="csX5" fmla="*/ 3867150 w 4977376"/>
              <a:gd name="csY5" fmla="*/ 3943351 h 6857990"/>
              <a:gd name="csX6" fmla="*/ 4495800 w 4977376"/>
              <a:gd name="csY6" fmla="*/ 6248401 h 6857990"/>
              <a:gd name="csX7" fmla="*/ 4462463 w 4977376"/>
              <a:gd name="csY7" fmla="*/ 6704262 h 6857990"/>
              <a:gd name="csX8" fmla="*/ 4414991 w 4977376"/>
              <a:gd name="csY8" fmla="*/ 6857990 h 6857990"/>
              <a:gd name="csX9" fmla="*/ 0 w 4977376"/>
              <a:gd name="csY9" fmla="*/ 6857990 h 6857990"/>
              <a:gd name="csX10" fmla="*/ 0 w 4977376"/>
              <a:gd name="csY10" fmla="*/ 0 h 6857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977376" h="6857990">
                <a:moveTo>
                  <a:pt x="0" y="0"/>
                </a:moveTo>
                <a:lnTo>
                  <a:pt x="4163298" y="0"/>
                </a:lnTo>
                <a:lnTo>
                  <a:pt x="4163616" y="21432"/>
                </a:lnTo>
                <a:cubicBezTo>
                  <a:pt x="4176713" y="234951"/>
                  <a:pt x="4227513" y="476251"/>
                  <a:pt x="4286250" y="685801"/>
                </a:cubicBezTo>
                <a:cubicBezTo>
                  <a:pt x="4403725" y="1104901"/>
                  <a:pt x="5041900" y="1495426"/>
                  <a:pt x="4972050" y="2038351"/>
                </a:cubicBezTo>
                <a:cubicBezTo>
                  <a:pt x="4902200" y="2581276"/>
                  <a:pt x="3946525" y="3241676"/>
                  <a:pt x="3867150" y="3943351"/>
                </a:cubicBezTo>
                <a:cubicBezTo>
                  <a:pt x="3787775" y="4645026"/>
                  <a:pt x="4394200" y="5616576"/>
                  <a:pt x="4495800" y="6248401"/>
                </a:cubicBezTo>
                <a:cubicBezTo>
                  <a:pt x="4521200" y="6406357"/>
                  <a:pt x="4500166" y="6559154"/>
                  <a:pt x="4462463" y="6704262"/>
                </a:cubicBezTo>
                <a:lnTo>
                  <a:pt x="4414991" y="6857990"/>
                </a:lnTo>
                <a:lnTo>
                  <a:pt x="0" y="685799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4D2BEA-1B1E-F338-C9EA-CA018EF37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r="13593"/>
          <a:stretch>
            <a:fillRect/>
          </a:stretch>
        </p:blipFill>
        <p:spPr>
          <a:xfrm>
            <a:off x="-8832421" y="-1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92AC9D0-E020-3295-2329-323C01F4D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0A2875E-2FB8-4658-F4DC-98A176CB5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81DBC0-BDAF-15B6-C7C1-FA6471275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D421995-829B-61AC-9CAA-0CC0B4FA3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ADB0EFD1-19B3-5158-EE69-B18E2B4E6C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41223C2-9A64-0C41-AF5F-862E7B9DD6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83F7A18-8AD9-A6A9-4A81-553833A97A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35986DC8-F5C1-6207-2A6E-EBFF280B87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6D2D58DB-B846-96FA-79C1-D3D5A33A1B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25" name="Picture 24" descr="A building with balconies and windows&#10;&#10;AI-generated content may be incorrect.">
            <a:extLst>
              <a:ext uri="{FF2B5EF4-FFF2-40B4-BE49-F238E27FC236}">
                <a16:creationId xmlns:a16="http://schemas.microsoft.com/office/drawing/2014/main" id="{AA431302-D2AD-FF04-992E-761FB88FF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409261" y="-1741726"/>
            <a:ext cx="4210050" cy="8599715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9F3D391-5353-28A5-2111-63B72BD928A4}"/>
              </a:ext>
            </a:extLst>
          </p:cNvPr>
          <p:cNvSpPr/>
          <p:nvPr/>
        </p:nvSpPr>
        <p:spPr>
          <a:xfrm>
            <a:off x="7936710" y="-1"/>
            <a:ext cx="4255290" cy="6857990"/>
          </a:xfrm>
          <a:custGeom>
            <a:avLst/>
            <a:gdLst>
              <a:gd name="csX0" fmla="*/ 303288 w 4255290"/>
              <a:gd name="csY0" fmla="*/ 0 h 6857990"/>
              <a:gd name="csX1" fmla="*/ 4255290 w 4255290"/>
              <a:gd name="csY1" fmla="*/ 0 h 6857990"/>
              <a:gd name="csX2" fmla="*/ 4255290 w 4255290"/>
              <a:gd name="csY2" fmla="*/ 6857990 h 6857990"/>
              <a:gd name="csX3" fmla="*/ 554981 w 4255290"/>
              <a:gd name="csY3" fmla="*/ 6857990 h 6857990"/>
              <a:gd name="csX4" fmla="*/ 602453 w 4255290"/>
              <a:gd name="csY4" fmla="*/ 6704262 h 6857990"/>
              <a:gd name="csX5" fmla="*/ 635790 w 4255290"/>
              <a:gd name="csY5" fmla="*/ 6248401 h 6857990"/>
              <a:gd name="csX6" fmla="*/ 7140 w 4255290"/>
              <a:gd name="csY6" fmla="*/ 3943351 h 6857990"/>
              <a:gd name="csX7" fmla="*/ 1112040 w 4255290"/>
              <a:gd name="csY7" fmla="*/ 2038351 h 6857990"/>
              <a:gd name="csX8" fmla="*/ 426240 w 4255290"/>
              <a:gd name="csY8" fmla="*/ 685801 h 6857990"/>
              <a:gd name="csX9" fmla="*/ 303606 w 4255290"/>
              <a:gd name="csY9" fmla="*/ 21432 h 6857990"/>
              <a:gd name="csX10" fmla="*/ 303288 w 4255290"/>
              <a:gd name="csY10" fmla="*/ 0 h 6857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55290" h="6857990">
                <a:moveTo>
                  <a:pt x="303288" y="0"/>
                </a:moveTo>
                <a:lnTo>
                  <a:pt x="4255290" y="0"/>
                </a:lnTo>
                <a:lnTo>
                  <a:pt x="4255290" y="6857990"/>
                </a:lnTo>
                <a:lnTo>
                  <a:pt x="554981" y="6857990"/>
                </a:lnTo>
                <a:lnTo>
                  <a:pt x="602453" y="6704262"/>
                </a:lnTo>
                <a:cubicBezTo>
                  <a:pt x="640156" y="6559154"/>
                  <a:pt x="661190" y="6406357"/>
                  <a:pt x="635790" y="6248401"/>
                </a:cubicBezTo>
                <a:cubicBezTo>
                  <a:pt x="534190" y="5616576"/>
                  <a:pt x="-72235" y="4645026"/>
                  <a:pt x="7140" y="3943351"/>
                </a:cubicBezTo>
                <a:cubicBezTo>
                  <a:pt x="86515" y="3241676"/>
                  <a:pt x="1042190" y="2581276"/>
                  <a:pt x="1112040" y="2038351"/>
                </a:cubicBezTo>
                <a:cubicBezTo>
                  <a:pt x="1181890" y="1495426"/>
                  <a:pt x="543715" y="1104901"/>
                  <a:pt x="426240" y="685801"/>
                </a:cubicBezTo>
                <a:cubicBezTo>
                  <a:pt x="367503" y="476251"/>
                  <a:pt x="316703" y="234951"/>
                  <a:pt x="303606" y="21432"/>
                </a:cubicBezTo>
                <a:lnTo>
                  <a:pt x="30328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86F6B7-49C9-8B00-F3B0-21F7CFE887EC}"/>
              </a:ext>
            </a:extLst>
          </p:cNvPr>
          <p:cNvSpPr txBox="1"/>
          <p:nvPr/>
        </p:nvSpPr>
        <p:spPr>
          <a:xfrm>
            <a:off x="1583176" y="2872372"/>
            <a:ext cx="51219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5">
                    <a:lumMod val="75000"/>
                  </a:schemeClr>
                </a:solidFill>
                <a:latin typeface="Aptos ExtraBold" panose="020B0004020202020204" pitchFamily="34" charset="0"/>
              </a:rPr>
              <a:t>Bran</a:t>
            </a:r>
            <a:r>
              <a:rPr lang="en-US" sz="8800" dirty="0">
                <a:solidFill>
                  <a:schemeClr val="bg1"/>
                </a:solidFill>
                <a:latin typeface="Aptos ExtraBold" panose="020B0004020202020204" pitchFamily="34" charset="0"/>
              </a:rPr>
              <a:t>ches</a:t>
            </a:r>
            <a:endParaRPr lang="en-US" sz="2800" dirty="0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133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927A4-43FB-C03E-2576-05FFB8CF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7512897-AE67-648D-B631-1B487295D99B}"/>
              </a:ext>
            </a:extLst>
          </p:cNvPr>
          <p:cNvSpPr/>
          <p:nvPr/>
        </p:nvSpPr>
        <p:spPr>
          <a:xfrm>
            <a:off x="4076700" y="-1"/>
            <a:ext cx="4977376" cy="6857990"/>
          </a:xfrm>
          <a:custGeom>
            <a:avLst/>
            <a:gdLst>
              <a:gd name="csX0" fmla="*/ 0 w 4977376"/>
              <a:gd name="csY0" fmla="*/ 0 h 6857990"/>
              <a:gd name="csX1" fmla="*/ 4163298 w 4977376"/>
              <a:gd name="csY1" fmla="*/ 0 h 6857990"/>
              <a:gd name="csX2" fmla="*/ 4163616 w 4977376"/>
              <a:gd name="csY2" fmla="*/ 21432 h 6857990"/>
              <a:gd name="csX3" fmla="*/ 4286250 w 4977376"/>
              <a:gd name="csY3" fmla="*/ 685801 h 6857990"/>
              <a:gd name="csX4" fmla="*/ 4972050 w 4977376"/>
              <a:gd name="csY4" fmla="*/ 2038351 h 6857990"/>
              <a:gd name="csX5" fmla="*/ 3867150 w 4977376"/>
              <a:gd name="csY5" fmla="*/ 3943351 h 6857990"/>
              <a:gd name="csX6" fmla="*/ 4495800 w 4977376"/>
              <a:gd name="csY6" fmla="*/ 6248401 h 6857990"/>
              <a:gd name="csX7" fmla="*/ 4462463 w 4977376"/>
              <a:gd name="csY7" fmla="*/ 6704262 h 6857990"/>
              <a:gd name="csX8" fmla="*/ 4414991 w 4977376"/>
              <a:gd name="csY8" fmla="*/ 6857990 h 6857990"/>
              <a:gd name="csX9" fmla="*/ 0 w 4977376"/>
              <a:gd name="csY9" fmla="*/ 6857990 h 6857990"/>
              <a:gd name="csX10" fmla="*/ 0 w 4977376"/>
              <a:gd name="csY10" fmla="*/ 0 h 6857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977376" h="6857990">
                <a:moveTo>
                  <a:pt x="0" y="0"/>
                </a:moveTo>
                <a:lnTo>
                  <a:pt x="4163298" y="0"/>
                </a:lnTo>
                <a:lnTo>
                  <a:pt x="4163616" y="21432"/>
                </a:lnTo>
                <a:cubicBezTo>
                  <a:pt x="4176713" y="234951"/>
                  <a:pt x="4227513" y="476251"/>
                  <a:pt x="4286250" y="685801"/>
                </a:cubicBezTo>
                <a:cubicBezTo>
                  <a:pt x="4403725" y="1104901"/>
                  <a:pt x="5041900" y="1495426"/>
                  <a:pt x="4972050" y="2038351"/>
                </a:cubicBezTo>
                <a:cubicBezTo>
                  <a:pt x="4902200" y="2581276"/>
                  <a:pt x="3946525" y="3241676"/>
                  <a:pt x="3867150" y="3943351"/>
                </a:cubicBezTo>
                <a:cubicBezTo>
                  <a:pt x="3787775" y="4645026"/>
                  <a:pt x="4394200" y="5616576"/>
                  <a:pt x="4495800" y="6248401"/>
                </a:cubicBezTo>
                <a:cubicBezTo>
                  <a:pt x="4521200" y="6406357"/>
                  <a:pt x="4500166" y="6559154"/>
                  <a:pt x="4462463" y="6704262"/>
                </a:cubicBezTo>
                <a:lnTo>
                  <a:pt x="4414991" y="6857990"/>
                </a:lnTo>
                <a:lnTo>
                  <a:pt x="0" y="685799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5776A6-C958-4B1E-8798-6FDCF5C79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9" r="13593"/>
          <a:stretch>
            <a:fillRect/>
          </a:stretch>
        </p:blipFill>
        <p:spPr>
          <a:xfrm>
            <a:off x="-8832421" y="-1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81BFD0B-4576-421D-F9C5-0E90C0AA2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6440B-8A52-801E-2ABC-823025D6CF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1F5E451-10F7-ED0C-CCD4-377D05C94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4998B19-A413-034E-0738-10E4C228C1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5107A848-4F35-6B94-5AF9-FD34B4619C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5573E30A-2B29-7D8D-8DB5-CF9B031890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909974D-2230-E516-CE5A-2F3D79F530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E0F322EA-6934-538A-1F62-50D9216B4E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D22E9B1-016C-7ADB-73D1-F0ADBAB413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8B9B7A-FB9F-A5A0-B3BD-C6751A5E930D}"/>
              </a:ext>
            </a:extLst>
          </p:cNvPr>
          <p:cNvSpPr txBox="1"/>
          <p:nvPr/>
        </p:nvSpPr>
        <p:spPr>
          <a:xfrm>
            <a:off x="266285" y="2921162"/>
            <a:ext cx="35489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5">
                    <a:lumMod val="75000"/>
                  </a:schemeClr>
                </a:solidFill>
                <a:latin typeface="Aptos ExtraBold" panose="020B0004020202020204" pitchFamily="34" charset="0"/>
              </a:rPr>
              <a:t>Bran</a:t>
            </a:r>
            <a:r>
              <a:rPr lang="en-US" sz="6000" dirty="0">
                <a:solidFill>
                  <a:schemeClr val="bg1"/>
                </a:solidFill>
                <a:latin typeface="Aptos ExtraBold" panose="020B0004020202020204" pitchFamily="34" charset="0"/>
              </a:rPr>
              <a:t>ches</a:t>
            </a:r>
            <a:endParaRPr lang="en-US" sz="2800" dirty="0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pic>
        <p:nvPicPr>
          <p:cNvPr id="25" name="Picture 24" descr="A building with balconies and windows&#10;&#10;AI-generated content may be incorrect.">
            <a:extLst>
              <a:ext uri="{FF2B5EF4-FFF2-40B4-BE49-F238E27FC236}">
                <a16:creationId xmlns:a16="http://schemas.microsoft.com/office/drawing/2014/main" id="{536419A8-9EA7-F41A-4ACC-CCAD60E56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44026" y="-1741726"/>
            <a:ext cx="4210050" cy="8599715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A922C98-2C6C-44D1-3D1F-CFDB795838F7}"/>
              </a:ext>
            </a:extLst>
          </p:cNvPr>
          <p:cNvSpPr/>
          <p:nvPr/>
        </p:nvSpPr>
        <p:spPr>
          <a:xfrm>
            <a:off x="7936710" y="-1"/>
            <a:ext cx="4255290" cy="6857990"/>
          </a:xfrm>
          <a:custGeom>
            <a:avLst/>
            <a:gdLst>
              <a:gd name="csX0" fmla="*/ 303288 w 4255290"/>
              <a:gd name="csY0" fmla="*/ 0 h 6857990"/>
              <a:gd name="csX1" fmla="*/ 4255290 w 4255290"/>
              <a:gd name="csY1" fmla="*/ 0 h 6857990"/>
              <a:gd name="csX2" fmla="*/ 4255290 w 4255290"/>
              <a:gd name="csY2" fmla="*/ 6857990 h 6857990"/>
              <a:gd name="csX3" fmla="*/ 554981 w 4255290"/>
              <a:gd name="csY3" fmla="*/ 6857990 h 6857990"/>
              <a:gd name="csX4" fmla="*/ 602453 w 4255290"/>
              <a:gd name="csY4" fmla="*/ 6704262 h 6857990"/>
              <a:gd name="csX5" fmla="*/ 635790 w 4255290"/>
              <a:gd name="csY5" fmla="*/ 6248401 h 6857990"/>
              <a:gd name="csX6" fmla="*/ 7140 w 4255290"/>
              <a:gd name="csY6" fmla="*/ 3943351 h 6857990"/>
              <a:gd name="csX7" fmla="*/ 1112040 w 4255290"/>
              <a:gd name="csY7" fmla="*/ 2038351 h 6857990"/>
              <a:gd name="csX8" fmla="*/ 426240 w 4255290"/>
              <a:gd name="csY8" fmla="*/ 685801 h 6857990"/>
              <a:gd name="csX9" fmla="*/ 303606 w 4255290"/>
              <a:gd name="csY9" fmla="*/ 21432 h 6857990"/>
              <a:gd name="csX10" fmla="*/ 303288 w 4255290"/>
              <a:gd name="csY10" fmla="*/ 0 h 6857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55290" h="6857990">
                <a:moveTo>
                  <a:pt x="303288" y="0"/>
                </a:moveTo>
                <a:lnTo>
                  <a:pt x="4255290" y="0"/>
                </a:lnTo>
                <a:lnTo>
                  <a:pt x="4255290" y="6857990"/>
                </a:lnTo>
                <a:lnTo>
                  <a:pt x="554981" y="6857990"/>
                </a:lnTo>
                <a:lnTo>
                  <a:pt x="602453" y="6704262"/>
                </a:lnTo>
                <a:cubicBezTo>
                  <a:pt x="640156" y="6559154"/>
                  <a:pt x="661190" y="6406357"/>
                  <a:pt x="635790" y="6248401"/>
                </a:cubicBezTo>
                <a:cubicBezTo>
                  <a:pt x="534190" y="5616576"/>
                  <a:pt x="-72235" y="4645026"/>
                  <a:pt x="7140" y="3943351"/>
                </a:cubicBezTo>
                <a:cubicBezTo>
                  <a:pt x="86515" y="3241676"/>
                  <a:pt x="1042190" y="2581276"/>
                  <a:pt x="1112040" y="2038351"/>
                </a:cubicBezTo>
                <a:cubicBezTo>
                  <a:pt x="1181890" y="1495426"/>
                  <a:pt x="543715" y="1104901"/>
                  <a:pt x="426240" y="685801"/>
                </a:cubicBezTo>
                <a:cubicBezTo>
                  <a:pt x="367503" y="476251"/>
                  <a:pt x="316703" y="234951"/>
                  <a:pt x="303606" y="21432"/>
                </a:cubicBezTo>
                <a:lnTo>
                  <a:pt x="30328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7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8B6DF-4C00-78D2-3854-C85E2A58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04C6B8B-2DED-66F2-356D-21EDD7236D3C}"/>
              </a:ext>
            </a:extLst>
          </p:cNvPr>
          <p:cNvSpPr/>
          <p:nvPr/>
        </p:nvSpPr>
        <p:spPr>
          <a:xfrm>
            <a:off x="4076700" y="-1"/>
            <a:ext cx="4977376" cy="6857990"/>
          </a:xfrm>
          <a:custGeom>
            <a:avLst/>
            <a:gdLst>
              <a:gd name="csX0" fmla="*/ 0 w 4977376"/>
              <a:gd name="csY0" fmla="*/ 0 h 6857990"/>
              <a:gd name="csX1" fmla="*/ 4163298 w 4977376"/>
              <a:gd name="csY1" fmla="*/ 0 h 6857990"/>
              <a:gd name="csX2" fmla="*/ 4163616 w 4977376"/>
              <a:gd name="csY2" fmla="*/ 21432 h 6857990"/>
              <a:gd name="csX3" fmla="*/ 4286250 w 4977376"/>
              <a:gd name="csY3" fmla="*/ 685801 h 6857990"/>
              <a:gd name="csX4" fmla="*/ 4972050 w 4977376"/>
              <a:gd name="csY4" fmla="*/ 2038351 h 6857990"/>
              <a:gd name="csX5" fmla="*/ 3867150 w 4977376"/>
              <a:gd name="csY5" fmla="*/ 3943351 h 6857990"/>
              <a:gd name="csX6" fmla="*/ 4495800 w 4977376"/>
              <a:gd name="csY6" fmla="*/ 6248401 h 6857990"/>
              <a:gd name="csX7" fmla="*/ 4462463 w 4977376"/>
              <a:gd name="csY7" fmla="*/ 6704262 h 6857990"/>
              <a:gd name="csX8" fmla="*/ 4414991 w 4977376"/>
              <a:gd name="csY8" fmla="*/ 6857990 h 6857990"/>
              <a:gd name="csX9" fmla="*/ 0 w 4977376"/>
              <a:gd name="csY9" fmla="*/ 6857990 h 6857990"/>
              <a:gd name="csX10" fmla="*/ 0 w 4977376"/>
              <a:gd name="csY10" fmla="*/ 0 h 6857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977376" h="6857990">
                <a:moveTo>
                  <a:pt x="0" y="0"/>
                </a:moveTo>
                <a:lnTo>
                  <a:pt x="4163298" y="0"/>
                </a:lnTo>
                <a:lnTo>
                  <a:pt x="4163616" y="21432"/>
                </a:lnTo>
                <a:cubicBezTo>
                  <a:pt x="4176713" y="234951"/>
                  <a:pt x="4227513" y="476251"/>
                  <a:pt x="4286250" y="685801"/>
                </a:cubicBezTo>
                <a:cubicBezTo>
                  <a:pt x="4403725" y="1104901"/>
                  <a:pt x="5041900" y="1495426"/>
                  <a:pt x="4972050" y="2038351"/>
                </a:cubicBezTo>
                <a:cubicBezTo>
                  <a:pt x="4902200" y="2581276"/>
                  <a:pt x="3946525" y="3241676"/>
                  <a:pt x="3867150" y="3943351"/>
                </a:cubicBezTo>
                <a:cubicBezTo>
                  <a:pt x="3787775" y="4645026"/>
                  <a:pt x="4394200" y="5616576"/>
                  <a:pt x="4495800" y="6248401"/>
                </a:cubicBezTo>
                <a:cubicBezTo>
                  <a:pt x="4521200" y="6406357"/>
                  <a:pt x="4500166" y="6559154"/>
                  <a:pt x="4462463" y="6704262"/>
                </a:cubicBezTo>
                <a:lnTo>
                  <a:pt x="4414991" y="6857990"/>
                </a:lnTo>
                <a:lnTo>
                  <a:pt x="0" y="685799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06F19A-A4A9-0703-446A-523AC0BF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A5F2C85-102C-DC8F-3B83-1C2EEC10C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D62EFF-C91B-6773-9CFA-4FAC19DAB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AE36F74-56A6-C4D5-5496-568CB20B3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384FD2A-E8A1-4BCB-EB79-88FCA10F11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081FBE4B-C31C-BC52-6FC0-679C7D8919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98D9FCC-F569-6CB7-5AC4-7BF7F0191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DA09ABA8-60F4-799C-A63B-3DAB0DD904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74A43109-5967-9443-5743-345C519401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pic>
        <p:nvPicPr>
          <p:cNvPr id="25" name="Picture 24" descr="A building with balconies and windows&#10;&#10;AI-generated content may be incorrect.">
            <a:extLst>
              <a:ext uri="{FF2B5EF4-FFF2-40B4-BE49-F238E27FC236}">
                <a16:creationId xmlns:a16="http://schemas.microsoft.com/office/drawing/2014/main" id="{B49A77F5-BF03-F5FD-778B-7CEFB2FCD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192000" y="-1741715"/>
            <a:ext cx="4210050" cy="8599715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D6C94BB-3BEE-4179-CF3C-B4EB174712B9}"/>
              </a:ext>
            </a:extLst>
          </p:cNvPr>
          <p:cNvSpPr/>
          <p:nvPr/>
        </p:nvSpPr>
        <p:spPr>
          <a:xfrm>
            <a:off x="7936710" y="-1"/>
            <a:ext cx="4255290" cy="6857990"/>
          </a:xfrm>
          <a:custGeom>
            <a:avLst/>
            <a:gdLst>
              <a:gd name="csX0" fmla="*/ 303288 w 4255290"/>
              <a:gd name="csY0" fmla="*/ 0 h 6857990"/>
              <a:gd name="csX1" fmla="*/ 4255290 w 4255290"/>
              <a:gd name="csY1" fmla="*/ 0 h 6857990"/>
              <a:gd name="csX2" fmla="*/ 4255290 w 4255290"/>
              <a:gd name="csY2" fmla="*/ 6857990 h 6857990"/>
              <a:gd name="csX3" fmla="*/ 554981 w 4255290"/>
              <a:gd name="csY3" fmla="*/ 6857990 h 6857990"/>
              <a:gd name="csX4" fmla="*/ 602453 w 4255290"/>
              <a:gd name="csY4" fmla="*/ 6704262 h 6857990"/>
              <a:gd name="csX5" fmla="*/ 635790 w 4255290"/>
              <a:gd name="csY5" fmla="*/ 6248401 h 6857990"/>
              <a:gd name="csX6" fmla="*/ 7140 w 4255290"/>
              <a:gd name="csY6" fmla="*/ 3943351 h 6857990"/>
              <a:gd name="csX7" fmla="*/ 1112040 w 4255290"/>
              <a:gd name="csY7" fmla="*/ 2038351 h 6857990"/>
              <a:gd name="csX8" fmla="*/ 426240 w 4255290"/>
              <a:gd name="csY8" fmla="*/ 685801 h 6857990"/>
              <a:gd name="csX9" fmla="*/ 303606 w 4255290"/>
              <a:gd name="csY9" fmla="*/ 21432 h 6857990"/>
              <a:gd name="csX10" fmla="*/ 303288 w 4255290"/>
              <a:gd name="csY10" fmla="*/ 0 h 68579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55290" h="6857990">
                <a:moveTo>
                  <a:pt x="303288" y="0"/>
                </a:moveTo>
                <a:lnTo>
                  <a:pt x="4255290" y="0"/>
                </a:lnTo>
                <a:lnTo>
                  <a:pt x="4255290" y="6857990"/>
                </a:lnTo>
                <a:lnTo>
                  <a:pt x="554981" y="6857990"/>
                </a:lnTo>
                <a:lnTo>
                  <a:pt x="602453" y="6704262"/>
                </a:lnTo>
                <a:cubicBezTo>
                  <a:pt x="640156" y="6559154"/>
                  <a:pt x="661190" y="6406357"/>
                  <a:pt x="635790" y="6248401"/>
                </a:cubicBezTo>
                <a:cubicBezTo>
                  <a:pt x="534190" y="5616576"/>
                  <a:pt x="-72235" y="4645026"/>
                  <a:pt x="7140" y="3943351"/>
                </a:cubicBezTo>
                <a:cubicBezTo>
                  <a:pt x="86515" y="3241676"/>
                  <a:pt x="1042190" y="2581276"/>
                  <a:pt x="1112040" y="2038351"/>
                </a:cubicBezTo>
                <a:cubicBezTo>
                  <a:pt x="1181890" y="1495426"/>
                  <a:pt x="543715" y="1104901"/>
                  <a:pt x="426240" y="685801"/>
                </a:cubicBezTo>
                <a:cubicBezTo>
                  <a:pt x="367503" y="476251"/>
                  <a:pt x="316703" y="234951"/>
                  <a:pt x="303606" y="21432"/>
                </a:cubicBezTo>
                <a:lnTo>
                  <a:pt x="30328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2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16755D6-BA8F-FED3-A5FD-32DBAEB414A5}"/>
              </a:ext>
            </a:extLst>
          </p:cNvPr>
          <p:cNvSpPr/>
          <p:nvPr/>
        </p:nvSpPr>
        <p:spPr>
          <a:xfrm>
            <a:off x="9511553" y="667870"/>
            <a:ext cx="5360894" cy="552226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137A0-0D23-D23B-0677-4710D91ADD8C}"/>
              </a:ext>
            </a:extLst>
          </p:cNvPr>
          <p:cNvSpPr txBox="1"/>
          <p:nvPr/>
        </p:nvSpPr>
        <p:spPr>
          <a:xfrm>
            <a:off x="257175" y="1136088"/>
            <a:ext cx="4542689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ptos ExtraBold" panose="020B0004020202020204" pitchFamily="34" charset="0"/>
              </a:rPr>
              <a:t>For Member customers at Branch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A</a:t>
            </a:r>
            <a:r>
              <a:rPr lang="en-US" dirty="0">
                <a:latin typeface="Aptos ExtraBold" panose="020B0004020202020204" pitchFamily="34" charset="0"/>
              </a:rPr>
              <a:t>, performance is solid with total sales exceeding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53K</a:t>
            </a:r>
            <a:r>
              <a:rPr lang="en-US" dirty="0">
                <a:latin typeface="Aptos ExtraBold" panose="020B0004020202020204" pitchFamily="34" charset="0"/>
              </a:rPr>
              <a:t>. The top-performing product categories are "Home and lifestyle" and "Sports and travel." The most popular payment method is E-wallet, and customer satisfaction is good with an average rating of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7.0</a:t>
            </a:r>
            <a:r>
              <a:rPr lang="en-US" dirty="0">
                <a:latin typeface="Aptos ExtraBold" panose="020B0004020202020204" pitchFamily="34" charset="0"/>
              </a:rPr>
              <a:t> out of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10</a:t>
            </a:r>
            <a:r>
              <a:rPr lang="en-US" dirty="0">
                <a:latin typeface="Aptos ExtraBold" panose="020B0004020202020204" pitchFamily="34" charset="0"/>
              </a:rPr>
              <a:t>.</a:t>
            </a:r>
            <a:endParaRPr lang="en-US" dirty="0">
              <a:effectLst/>
              <a:latin typeface="Aptos ExtraBold" panose="020B0004020202020204" pitchFamily="34" charset="0"/>
            </a:endParaRPr>
          </a:p>
        </p:txBody>
      </p:sp>
      <p:pic>
        <p:nvPicPr>
          <p:cNvPr id="3" name="Picture 2" descr="A screenshot of a sales dashboard&#10;&#10;AI-generated content may be incorrect.">
            <a:extLst>
              <a:ext uri="{FF2B5EF4-FFF2-40B4-BE49-F238E27FC236}">
                <a16:creationId xmlns:a16="http://schemas.microsoft.com/office/drawing/2014/main" id="{5F9A5F8C-6FAF-D5F8-8522-0C79996C0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83" y="3669353"/>
            <a:ext cx="5020221" cy="280071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0BE590-450C-25B3-4B06-6F7417CEC57B}"/>
              </a:ext>
            </a:extLst>
          </p:cNvPr>
          <p:cNvSpPr txBox="1"/>
          <p:nvPr/>
        </p:nvSpPr>
        <p:spPr>
          <a:xfrm>
            <a:off x="257175" y="387928"/>
            <a:ext cx="3643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ExtraBold" panose="020B0004020202020204" pitchFamily="34" charset="0"/>
              </a:rPr>
              <a:t>Dashboard Overview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6C581-0081-A7AB-AD3F-280F6F3531BD}"/>
              </a:ext>
            </a:extLst>
          </p:cNvPr>
          <p:cNvSpPr txBox="1"/>
          <p:nvPr/>
        </p:nvSpPr>
        <p:spPr>
          <a:xfrm rot="20356548">
            <a:off x="9658719" y="2290250"/>
            <a:ext cx="111761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Aptos ExtraBold" panose="020B0004020202020204" pitchFamily="34" charset="0"/>
              </a:rPr>
              <a:t>A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Aptos Extra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38D63-DD28-435D-906B-95A37CEDC2EF}"/>
              </a:ext>
            </a:extLst>
          </p:cNvPr>
          <p:cNvSpPr txBox="1"/>
          <p:nvPr/>
        </p:nvSpPr>
        <p:spPr>
          <a:xfrm rot="19648883">
            <a:off x="11332699" y="327397"/>
            <a:ext cx="12346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Aptos ExtraBold" panose="020B0004020202020204" pitchFamily="34" charset="0"/>
              </a:rPr>
              <a:t>C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B50BAF-2ADB-DBC1-8287-48CA899C5E1A}"/>
              </a:ext>
            </a:extLst>
          </p:cNvPr>
          <p:cNvSpPr txBox="1"/>
          <p:nvPr/>
        </p:nvSpPr>
        <p:spPr>
          <a:xfrm rot="630449">
            <a:off x="10255958" y="929022"/>
            <a:ext cx="111761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Aptos ExtraBold" panose="020B0004020202020204" pitchFamily="34" charset="0"/>
              </a:rPr>
              <a:t>B</a:t>
            </a:r>
            <a:endParaRPr lang="en-US" dirty="0"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89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2D35-8DFE-3EDD-087B-65A9E870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F87B1A1E-2715-4DF5-83D4-3253AFF10C12}"/>
              </a:ext>
            </a:extLst>
          </p:cNvPr>
          <p:cNvSpPr/>
          <p:nvPr/>
        </p:nvSpPr>
        <p:spPr>
          <a:xfrm>
            <a:off x="9511553" y="667870"/>
            <a:ext cx="5360894" cy="552226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2BABD-26DA-29E0-D177-A6CC9CE5A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5" b="695"/>
          <a:stretch/>
        </p:blipFill>
        <p:spPr>
          <a:xfrm>
            <a:off x="540383" y="3669353"/>
            <a:ext cx="5020221" cy="280071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A11569-D2EE-87BD-ABEE-039F4A2A3018}"/>
              </a:ext>
            </a:extLst>
          </p:cNvPr>
          <p:cNvSpPr txBox="1"/>
          <p:nvPr/>
        </p:nvSpPr>
        <p:spPr>
          <a:xfrm rot="1655001">
            <a:off x="10255957" y="3738050"/>
            <a:ext cx="111761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Aptos ExtraBold" panose="020B0004020202020204" pitchFamily="34" charset="0"/>
              </a:rPr>
              <a:t>A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D3AEF-AE72-BC3E-CDD7-CED73256DE17}"/>
              </a:ext>
            </a:extLst>
          </p:cNvPr>
          <p:cNvSpPr txBox="1"/>
          <p:nvPr/>
        </p:nvSpPr>
        <p:spPr>
          <a:xfrm rot="18669366">
            <a:off x="10197449" y="853755"/>
            <a:ext cx="12346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Aptos ExtraBold" panose="020B0004020202020204" pitchFamily="34" charset="0"/>
              </a:rPr>
              <a:t>C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10625-778A-7F22-1303-B4F7541193A0}"/>
              </a:ext>
            </a:extLst>
          </p:cNvPr>
          <p:cNvSpPr txBox="1"/>
          <p:nvPr/>
        </p:nvSpPr>
        <p:spPr>
          <a:xfrm rot="20987588">
            <a:off x="9671967" y="2341459"/>
            <a:ext cx="111761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ptos ExtraBold" panose="020B0004020202020204" pitchFamily="34" charset="0"/>
              </a:rPr>
              <a:t>B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ptos ExtraBold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5CD260-E53D-FA4D-7C98-7170A2ED8636}"/>
              </a:ext>
            </a:extLst>
          </p:cNvPr>
          <p:cNvSpPr txBox="1"/>
          <p:nvPr/>
        </p:nvSpPr>
        <p:spPr>
          <a:xfrm>
            <a:off x="257175" y="387928"/>
            <a:ext cx="3643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ExtraBold" panose="020B0004020202020204" pitchFamily="34" charset="0"/>
              </a:rPr>
              <a:t>Dashboard Overview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D8C6C-9C50-CCE6-24A0-682E1ED6DB00}"/>
              </a:ext>
            </a:extLst>
          </p:cNvPr>
          <p:cNvSpPr txBox="1"/>
          <p:nvPr/>
        </p:nvSpPr>
        <p:spPr>
          <a:xfrm>
            <a:off x="257175" y="1136088"/>
            <a:ext cx="573405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ptos ExtraBold" panose="020B0004020202020204" pitchFamily="34" charset="0"/>
              </a:rPr>
              <a:t>For Member customers at Branch B, total sales are very close to Branch A (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53.70K</a:t>
            </a:r>
            <a:r>
              <a:rPr lang="en-US" dirty="0">
                <a:latin typeface="Aptos ExtraBold" panose="020B0004020202020204" pitchFamily="34" charset="0"/>
              </a:rPr>
              <a:t> vs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53.64K</a:t>
            </a:r>
            <a:r>
              <a:rPr lang="en-US" dirty="0">
                <a:latin typeface="Aptos ExtraBold" panose="020B0004020202020204" pitchFamily="34" charset="0"/>
              </a:rPr>
              <a:t> previously). Top categories here are "Health and beauty" and "Sports and travel," with Credit card being the most popular payment method. Average customer rating is slightly lower at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6.77 </a:t>
            </a:r>
            <a:r>
              <a:rPr lang="en-US" dirty="0">
                <a:latin typeface="Aptos ExtraBold" panose="020B0004020202020204" pitchFamily="34" charset="0"/>
              </a:rPr>
              <a:t>compared to Branch A's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7.00</a:t>
            </a:r>
            <a:r>
              <a:rPr lang="en-US" dirty="0">
                <a:latin typeface="Aptos ExtraBold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74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C8BE-6565-7880-C415-9F79254E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D171A7C-16F4-ACE9-95AD-ED3785BF5E12}"/>
              </a:ext>
            </a:extLst>
          </p:cNvPr>
          <p:cNvSpPr/>
          <p:nvPr/>
        </p:nvSpPr>
        <p:spPr>
          <a:xfrm>
            <a:off x="9511553" y="667870"/>
            <a:ext cx="5360894" cy="552226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ED2CE-E6F7-53F0-AEEB-E22135BFD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" b="635"/>
          <a:stretch/>
        </p:blipFill>
        <p:spPr>
          <a:xfrm>
            <a:off x="540383" y="3669353"/>
            <a:ext cx="5020221" cy="280071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E49070-EC14-B421-1F88-C9EF057ED00B}"/>
              </a:ext>
            </a:extLst>
          </p:cNvPr>
          <p:cNvSpPr txBox="1"/>
          <p:nvPr/>
        </p:nvSpPr>
        <p:spPr>
          <a:xfrm rot="21134409">
            <a:off x="11304258" y="4565113"/>
            <a:ext cx="111761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Aptos ExtraBold" panose="020B0004020202020204" pitchFamily="34" charset="0"/>
              </a:rPr>
              <a:t>A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5BB86-C4C1-C546-C4AF-FE2EDD3E8BB3}"/>
              </a:ext>
            </a:extLst>
          </p:cNvPr>
          <p:cNvSpPr txBox="1"/>
          <p:nvPr/>
        </p:nvSpPr>
        <p:spPr>
          <a:xfrm rot="972817">
            <a:off x="9582974" y="2403654"/>
            <a:ext cx="12346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ptos ExtraBold" panose="020B0004020202020204" pitchFamily="34" charset="0"/>
              </a:rPr>
              <a:t>C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ptos Extra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E6B4A-52B7-A0BF-2F9E-0EA3B0EFE662}"/>
              </a:ext>
            </a:extLst>
          </p:cNvPr>
          <p:cNvSpPr txBox="1"/>
          <p:nvPr/>
        </p:nvSpPr>
        <p:spPr>
          <a:xfrm rot="1406801">
            <a:off x="10377866" y="3738050"/>
            <a:ext cx="111761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Aptos ExtraBold" panose="020B0004020202020204" pitchFamily="34" charset="0"/>
              </a:rPr>
              <a:t>B</a:t>
            </a:r>
            <a:endParaRPr lang="en-US" dirty="0">
              <a:latin typeface="Aptos ExtraBold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77D05-164F-B50C-5E53-2A8561BD19DC}"/>
              </a:ext>
            </a:extLst>
          </p:cNvPr>
          <p:cNvSpPr txBox="1"/>
          <p:nvPr/>
        </p:nvSpPr>
        <p:spPr>
          <a:xfrm>
            <a:off x="257175" y="387928"/>
            <a:ext cx="3643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ptos ExtraBold" panose="020B0004020202020204" pitchFamily="34" charset="0"/>
              </a:rPr>
              <a:t>Dashboard Overview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2C7D5-D868-4671-8E1D-FB5760732B4F}"/>
              </a:ext>
            </a:extLst>
          </p:cNvPr>
          <p:cNvSpPr txBox="1"/>
          <p:nvPr/>
        </p:nvSpPr>
        <p:spPr>
          <a:xfrm>
            <a:off x="257175" y="975654"/>
            <a:ext cx="5734050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ptos ExtraBold" panose="020B0004020202020204" pitchFamily="34" charset="0"/>
              </a:rPr>
              <a:t>Branch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C</a:t>
            </a:r>
            <a:r>
              <a:rPr lang="en-US" dirty="0">
                <a:latin typeface="Aptos ExtraBold" panose="020B0004020202020204" pitchFamily="34" charset="0"/>
              </a:rPr>
              <a:t> shows the highest total sales among the three branches for Member customers (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56.88K</a:t>
            </a:r>
            <a:r>
              <a:rPr lang="en-US" dirty="0">
                <a:latin typeface="Aptos ExtraBold" panose="020B0004020202020204" pitchFamily="34" charset="0"/>
              </a:rPr>
              <a:t>), slightly ahead of Branch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A</a:t>
            </a:r>
            <a:r>
              <a:rPr lang="en-US" dirty="0">
                <a:latin typeface="Aptos ExtraBold" panose="020B0004020202020204" pitchFamily="34" charset="0"/>
              </a:rPr>
              <a:t> (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53.64K</a:t>
            </a:r>
            <a:r>
              <a:rPr lang="en-US" dirty="0">
                <a:latin typeface="Aptos ExtraBold" panose="020B0004020202020204" pitchFamily="34" charset="0"/>
              </a:rPr>
              <a:t>) and Branch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B</a:t>
            </a:r>
            <a:r>
              <a:rPr lang="en-US" dirty="0">
                <a:latin typeface="Aptos ExtraBold" panose="020B0004020202020204" pitchFamily="34" charset="0"/>
              </a:rPr>
              <a:t> (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53.70K</a:t>
            </a:r>
            <a:r>
              <a:rPr lang="en-US" dirty="0">
                <a:latin typeface="Aptos ExtraBold" panose="020B0004020202020204" pitchFamily="34" charset="0"/>
              </a:rPr>
              <a:t>). Top categories are "Food and beverages" and "Fashion accessories." Payment methods are fairly balanced, with Cash and E-wallet nearly tied as the most popular. Customer satisfaction is solid with the highest average rating of </a:t>
            </a:r>
            <a:r>
              <a:rPr lang="en-US" dirty="0">
                <a:highlight>
                  <a:srgbClr val="808000"/>
                </a:highlight>
                <a:latin typeface="Aptos ExtraBold" panose="020B0004020202020204" pitchFamily="34" charset="0"/>
              </a:rPr>
              <a:t>7.05</a:t>
            </a:r>
            <a:r>
              <a:rPr lang="en-US" dirty="0">
                <a:latin typeface="Aptos ExtraBold" panose="020B0004020202020204" pitchFamily="34" charset="0"/>
              </a:rPr>
              <a:t> across the branches.</a:t>
            </a:r>
            <a:endParaRPr lang="en-US" dirty="0">
              <a:effectLst/>
              <a:latin typeface="Aptos Extra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61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ptos ExtraBold" panose="020B0004020202020204" pitchFamily="34" charset="0"/>
              </a:rPr>
              <a:t>Branches</a:t>
            </a:r>
          </a:p>
        </p:txBody>
      </p:sp>
      <p:pic>
        <p:nvPicPr>
          <p:cNvPr id="3" name="Content Placeholder 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A0940D3-97CD-5630-9E2C-1D486494B4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50933" y="1901825"/>
            <a:ext cx="2980666" cy="4351338"/>
          </a:xfrm>
          <a:noFill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11314" y="1901825"/>
            <a:ext cx="5181600" cy="328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 ExtraBold" panose="020B0004020202020204" pitchFamily="34" charset="0"/>
              </a:rPr>
              <a:t>By transforming sales data into actionable insights, the supermarket can improve operational efficiency, enhance customer satisfaction, and drive sustainable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D9C2-F765-71FF-4ADC-08038F9F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C06EB0E3-8AB8-CCA7-740E-FFC89A0B4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ptos ExtraBold" panose="020B0004020202020204" pitchFamily="34" charset="0"/>
              </a:rPr>
              <a:t>Branches</a:t>
            </a:r>
          </a:p>
        </p:txBody>
      </p:sp>
      <p:pic>
        <p:nvPicPr>
          <p:cNvPr id="3" name="Content Placeholder 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CEA2390F-44BD-DBD0-3D81-5803D6AE25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67" y="1825625"/>
            <a:ext cx="2980666" cy="4351338"/>
          </a:xfrm>
          <a:noFill/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7825FB1-2589-91B8-4DB0-7A402FC16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901825"/>
            <a:ext cx="5181600" cy="328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 ExtraBold" panose="020B0004020202020204" pitchFamily="34" charset="0"/>
              </a:rPr>
              <a:t>By transforming sales data into actionable insights, the supermarket can improve operational efficiency, enhance customer satisfaction, and drive sustainable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394505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11AF2-3B90-0765-1A40-7A3AEBDF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78E2-36F9-31AC-2963-F7695969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>
                <a:latin typeface="Aptos ExtraBold" panose="020B0004020202020204" pitchFamily="34" charset="0"/>
              </a:rPr>
              <a:t>Male Member Excel in every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ptos ExtraBold" panose="020B0004020202020204" pitchFamily="34" charset="0"/>
              </a:rPr>
              <a:t>Branch</a:t>
            </a:r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A57B9F3A-B5B0-C796-3DFA-7FB7D59A8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1663016"/>
              </p:ext>
            </p:extLst>
          </p:nvPr>
        </p:nvGraphicFramePr>
        <p:xfrm>
          <a:off x="902228" y="7185906"/>
          <a:ext cx="10387544" cy="335727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59688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Row Labels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Sum of total2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Count of branch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Sum of quantity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Mandalay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26854.254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445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Naypyitaw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22227.8385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73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349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Yangon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26994.408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499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Grand Total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76076.5005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1293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2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5511-FF9A-FDF3-B943-4057E783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6FD2-A8A6-79A5-D076-6D4C7C73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>
                <a:latin typeface="Aptos ExtraBold" panose="020B0004020202020204" pitchFamily="34" charset="0"/>
              </a:rPr>
              <a:t>Male Member Excel in every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ptos ExtraBold" panose="020B0004020202020204" pitchFamily="34" charset="0"/>
              </a:rPr>
              <a:t>Branch</a:t>
            </a:r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A18B4BCC-97EB-5E7B-5E3F-4783D5747E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2228" y="2860649"/>
          <a:ext cx="10387544" cy="3357271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59688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Row Labels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Sum of total2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Count of branch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Sum of quantity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Mandalay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26854.254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445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Naypyitaw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22227.8385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73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349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Yangon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26994.408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87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499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Grand Total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76076.5005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1293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903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D60E75B9-0B69-54EC-BE58-C017A92122B5}"/>
              </a:ext>
            </a:extLst>
          </p:cNvPr>
          <p:cNvGrpSpPr/>
          <p:nvPr/>
        </p:nvGrpSpPr>
        <p:grpSpPr>
          <a:xfrm>
            <a:off x="-3148794" y="0"/>
            <a:ext cx="3394552" cy="6858000"/>
            <a:chOff x="4779714" y="0"/>
            <a:chExt cx="3394552" cy="68580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C2CFB8-B8CB-A638-0E2F-80048D493BC1}"/>
                </a:ext>
              </a:extLst>
            </p:cNvPr>
            <p:cNvGrpSpPr/>
            <p:nvPr/>
          </p:nvGrpSpPr>
          <p:grpSpPr>
            <a:xfrm>
              <a:off x="4779714" y="0"/>
              <a:ext cx="3096126" cy="6858000"/>
              <a:chOff x="9095874" y="0"/>
              <a:chExt cx="3096126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894DB93-89ED-9DE1-B000-4BE27908A951}"/>
                  </a:ext>
                </a:extLst>
              </p:cNvPr>
              <p:cNvSpPr/>
              <p:nvPr/>
            </p:nvSpPr>
            <p:spPr>
              <a:xfrm>
                <a:off x="9095874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656158-6EF6-5651-86DA-7CAEF790809A}"/>
                  </a:ext>
                </a:extLst>
              </p:cNvPr>
              <p:cNvSpPr txBox="1"/>
              <p:nvPr/>
            </p:nvSpPr>
            <p:spPr>
              <a:xfrm>
                <a:off x="9669984" y="561473"/>
                <a:ext cx="207460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WISE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50A0198-1F25-BB2C-6DAF-97875C79F2A4}"/>
                  </a:ext>
                </a:extLst>
              </p:cNvPr>
              <p:cNvSpPr txBox="1"/>
              <p:nvPr/>
            </p:nvSpPr>
            <p:spPr>
              <a:xfrm>
                <a:off x="9492948" y="1594413"/>
                <a:ext cx="2428677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involves </a:t>
                </a:r>
                <a:r>
                  <a:rPr lang="en-US" b="1" dirty="0"/>
                  <a:t>experience</a:t>
                </a:r>
                <a:r>
                  <a:rPr lang="en-US" dirty="0"/>
                  <a:t>, </a:t>
                </a:r>
                <a:r>
                  <a:rPr lang="en-US" b="1" dirty="0"/>
                  <a:t>morals</a:t>
                </a:r>
                <a:r>
                  <a:rPr lang="en-US" dirty="0"/>
                  <a:t>, </a:t>
                </a:r>
                <a:r>
                  <a:rPr lang="en-US" b="1" dirty="0"/>
                  <a:t>judgment</a:t>
                </a:r>
                <a:r>
                  <a:rPr lang="en-US" dirty="0"/>
                  <a:t>, and </a:t>
                </a:r>
                <a:r>
                  <a:rPr lang="en-US" b="1" dirty="0"/>
                  <a:t>foresight</a:t>
                </a:r>
                <a:endParaRPr lang="en-US" dirty="0"/>
              </a:p>
              <a:p>
                <a:r>
                  <a:rPr lang="en-US" dirty="0"/>
                  <a:t>It helps people choose the </a:t>
                </a:r>
                <a:r>
                  <a:rPr lang="en-US" b="1" dirty="0"/>
                  <a:t>best</a:t>
                </a:r>
                <a:r>
                  <a:rPr lang="en-US" dirty="0"/>
                  <a:t> action, not just a correct one</a:t>
                </a:r>
              </a:p>
              <a:p>
                <a:r>
                  <a:rPr lang="en-US" dirty="0"/>
                  <a:t>It is often called “knowing what truly matters”</a:t>
                </a:r>
              </a:p>
            </p:txBody>
          </p:sp>
          <p:pic>
            <p:nvPicPr>
              <p:cNvPr id="27" name="Graphic 26" descr="Koi with solid fill">
                <a:extLst>
                  <a:ext uri="{FF2B5EF4-FFF2-40B4-BE49-F238E27FC236}">
                    <a16:creationId xmlns:a16="http://schemas.microsoft.com/office/drawing/2014/main" id="{0D284995-2DF5-8F08-60CA-13A50D5B8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186737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63646A85-296E-EB3E-D572-3651728F8DA4}"/>
                </a:ext>
              </a:extLst>
            </p:cNvPr>
            <p:cNvSpPr/>
            <p:nvPr/>
          </p:nvSpPr>
          <p:spPr>
            <a:xfrm rot="5400000">
              <a:off x="7394477" y="1025783"/>
              <a:ext cx="1254126" cy="305452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C01D6A7-B53C-DE88-BE0D-0390E0B1CC33}"/>
              </a:ext>
            </a:extLst>
          </p:cNvPr>
          <p:cNvGrpSpPr/>
          <p:nvPr/>
        </p:nvGrpSpPr>
        <p:grpSpPr>
          <a:xfrm>
            <a:off x="-3400920" y="0"/>
            <a:ext cx="3382251" cy="6858000"/>
            <a:chOff x="6023810" y="0"/>
            <a:chExt cx="3382251" cy="68580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0CC4420-4AF6-F948-0FF7-7199B208C3C8}"/>
                </a:ext>
              </a:extLst>
            </p:cNvPr>
            <p:cNvGrpSpPr/>
            <p:nvPr/>
          </p:nvGrpSpPr>
          <p:grpSpPr>
            <a:xfrm>
              <a:off x="6023810" y="0"/>
              <a:ext cx="3096126" cy="6858000"/>
              <a:chOff x="6023810" y="0"/>
              <a:chExt cx="3096126" cy="685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AA04D66-47DD-484B-86CE-62D9A2937682}"/>
                  </a:ext>
                </a:extLst>
              </p:cNvPr>
              <p:cNvSpPr/>
              <p:nvPr/>
            </p:nvSpPr>
            <p:spPr>
              <a:xfrm>
                <a:off x="6023810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664C9-B5B5-944C-BAA2-9FF55224E752}"/>
                  </a:ext>
                </a:extLst>
              </p:cNvPr>
              <p:cNvSpPr txBox="1"/>
              <p:nvPr/>
            </p:nvSpPr>
            <p:spPr>
              <a:xfrm>
                <a:off x="6552432" y="561473"/>
                <a:ext cx="198163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KNW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1C41BE5-1F49-916D-43B5-85471194B4A2}"/>
                  </a:ext>
                </a:extLst>
              </p:cNvPr>
              <p:cNvSpPr txBox="1"/>
              <p:nvPr/>
            </p:nvSpPr>
            <p:spPr>
              <a:xfrm>
                <a:off x="6357534" y="1577136"/>
                <a:ext cx="2428677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is gained through </a:t>
                </a:r>
                <a:r>
                  <a:rPr lang="en-US" b="1" dirty="0"/>
                  <a:t>learning</a:t>
                </a:r>
                <a:r>
                  <a:rPr lang="en-US" dirty="0"/>
                  <a:t>, </a:t>
                </a:r>
                <a:r>
                  <a:rPr lang="en-US" b="1" dirty="0"/>
                  <a:t>experience</a:t>
                </a:r>
                <a:r>
                  <a:rPr lang="en-US" dirty="0"/>
                  <a:t>, and </a:t>
                </a:r>
                <a:r>
                  <a:rPr lang="en-US" b="1" dirty="0"/>
                  <a:t>thinking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Knowledge helps you make </a:t>
                </a:r>
                <a:r>
                  <a:rPr lang="en-US" b="1" dirty="0"/>
                  <a:t>decisions</a:t>
                </a:r>
                <a:r>
                  <a:rPr lang="en-US" dirty="0"/>
                  <a:t> and </a:t>
                </a:r>
                <a:r>
                  <a:rPr lang="en-US" b="1" dirty="0"/>
                  <a:t>solve problems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It is more </a:t>
                </a:r>
                <a:r>
                  <a:rPr lang="en-US" b="1" dirty="0"/>
                  <a:t>deep</a:t>
                </a:r>
                <a:r>
                  <a:rPr lang="en-US" dirty="0"/>
                  <a:t> and </a:t>
                </a:r>
                <a:r>
                  <a:rPr lang="en-US" b="1" dirty="0"/>
                  <a:t>applied</a:t>
                </a:r>
                <a:r>
                  <a:rPr lang="en-US" dirty="0"/>
                  <a:t> than information.</a:t>
                </a:r>
              </a:p>
            </p:txBody>
          </p:sp>
          <p:pic>
            <p:nvPicPr>
              <p:cNvPr id="22" name="Graphic 21" descr="Brain in head with solid fill">
                <a:extLst>
                  <a:ext uri="{FF2B5EF4-FFF2-40B4-BE49-F238E27FC236}">
                    <a16:creationId xmlns:a16="http://schemas.microsoft.com/office/drawing/2014/main" id="{9BC85664-9D94-78C3-73D2-435083A506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86152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B3F7C326-8738-4E74-F369-5A00AE534072}"/>
                </a:ext>
              </a:extLst>
            </p:cNvPr>
            <p:cNvSpPr/>
            <p:nvPr/>
          </p:nvSpPr>
          <p:spPr>
            <a:xfrm rot="5400000">
              <a:off x="8656761" y="995946"/>
              <a:ext cx="1193800" cy="304800"/>
            </a:xfrm>
            <a:prstGeom prst="triangl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11A1FBD-7511-37A3-1761-040A88BD205B}"/>
              </a:ext>
            </a:extLst>
          </p:cNvPr>
          <p:cNvGrpSpPr/>
          <p:nvPr/>
        </p:nvGrpSpPr>
        <p:grpSpPr>
          <a:xfrm>
            <a:off x="-3607786" y="0"/>
            <a:ext cx="3390567" cy="6858000"/>
            <a:chOff x="3011905" y="0"/>
            <a:chExt cx="3390567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FB12765-77F6-F02E-DD7F-60836318CC90}"/>
                </a:ext>
              </a:extLst>
            </p:cNvPr>
            <p:cNvGrpSpPr/>
            <p:nvPr/>
          </p:nvGrpSpPr>
          <p:grpSpPr>
            <a:xfrm>
              <a:off x="3011905" y="0"/>
              <a:ext cx="3096126" cy="6858000"/>
              <a:chOff x="3011905" y="0"/>
              <a:chExt cx="3096126" cy="6858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95CC7E-72D6-F1A1-1544-ECE3EF8D7849}"/>
                  </a:ext>
                </a:extLst>
              </p:cNvPr>
              <p:cNvSpPr/>
              <p:nvPr/>
            </p:nvSpPr>
            <p:spPr>
              <a:xfrm>
                <a:off x="3011905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0028A2-A496-3B69-CB46-7055A7FA77CE}"/>
                  </a:ext>
                </a:extLst>
              </p:cNvPr>
              <p:cNvSpPr txBox="1"/>
              <p:nvPr/>
            </p:nvSpPr>
            <p:spPr>
              <a:xfrm>
                <a:off x="3552288" y="561473"/>
                <a:ext cx="196342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INFO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A7562B-365E-FB33-75E9-EA45F8CFE8DC}"/>
                  </a:ext>
                </a:extLst>
              </p:cNvPr>
              <p:cNvSpPr txBox="1"/>
              <p:nvPr/>
            </p:nvSpPr>
            <p:spPr>
              <a:xfrm>
                <a:off x="3342961" y="1577136"/>
                <a:ext cx="2428677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Information helps in </a:t>
                </a:r>
                <a:r>
                  <a:rPr lang="en-US" b="1" dirty="0"/>
                  <a:t>decision-making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Information is created when data is </a:t>
                </a:r>
                <a:r>
                  <a:rPr lang="en-US" b="1" dirty="0"/>
                  <a:t>analyzed</a:t>
                </a:r>
                <a:r>
                  <a:rPr lang="en-US" dirty="0"/>
                  <a:t>, </a:t>
                </a:r>
                <a:r>
                  <a:rPr lang="en-US" b="1" dirty="0"/>
                  <a:t>classified</a:t>
                </a:r>
                <a:r>
                  <a:rPr lang="en-US" dirty="0"/>
                  <a:t>, </a:t>
                </a:r>
                <a:r>
                  <a:rPr lang="en-US" b="1" dirty="0"/>
                  <a:t>organized</a:t>
                </a:r>
                <a:r>
                  <a:rPr lang="en-US" dirty="0"/>
                  <a:t>, or </a:t>
                </a:r>
                <a:r>
                  <a:rPr lang="en-US" b="1" dirty="0"/>
                  <a:t>summarized</a:t>
                </a:r>
                <a:r>
                  <a:rPr lang="en-US" dirty="0"/>
                  <a:t>.</a:t>
                </a:r>
              </a:p>
            </p:txBody>
          </p:sp>
          <p:pic>
            <p:nvPicPr>
              <p:cNvPr id="18" name="Graphic 17" descr="Pie chart with solid fill">
                <a:extLst>
                  <a:ext uri="{FF2B5EF4-FFF2-40B4-BE49-F238E27FC236}">
                    <a16:creationId xmlns:a16="http://schemas.microsoft.com/office/drawing/2014/main" id="{AFE570FB-AD24-7D92-AEDB-DC9CEF35C2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76799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2BCE01DD-6AEA-B9FF-48B4-E8E2BC646BD8}"/>
                </a:ext>
              </a:extLst>
            </p:cNvPr>
            <p:cNvSpPr/>
            <p:nvPr/>
          </p:nvSpPr>
          <p:spPr>
            <a:xfrm rot="5400000">
              <a:off x="5653172" y="995946"/>
              <a:ext cx="1193800" cy="304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6BE6EE6-E7B1-9BE0-9F3A-241EC335E9A8}"/>
              </a:ext>
            </a:extLst>
          </p:cNvPr>
          <p:cNvGrpSpPr/>
          <p:nvPr/>
        </p:nvGrpSpPr>
        <p:grpSpPr>
          <a:xfrm>
            <a:off x="-3873556" y="0"/>
            <a:ext cx="3378404" cy="6858000"/>
            <a:chOff x="0" y="0"/>
            <a:chExt cx="3378404" cy="6858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E4EFFE8-2693-EF90-BE14-B18A5584A333}"/>
                </a:ext>
              </a:extLst>
            </p:cNvPr>
            <p:cNvGrpSpPr/>
            <p:nvPr/>
          </p:nvGrpSpPr>
          <p:grpSpPr>
            <a:xfrm>
              <a:off x="0" y="0"/>
              <a:ext cx="3096126" cy="6858000"/>
              <a:chOff x="0" y="0"/>
              <a:chExt cx="309612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DA1B553-3927-19B2-1325-5D3D16317C68}"/>
                  </a:ext>
                </a:extLst>
              </p:cNvPr>
              <p:cNvSpPr/>
              <p:nvPr/>
            </p:nvSpPr>
            <p:spPr>
              <a:xfrm>
                <a:off x="0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E408C71-3E42-14CF-D52F-EEC9C339531E}"/>
                  </a:ext>
                </a:extLst>
              </p:cNvPr>
              <p:cNvSpPr txBox="1"/>
              <p:nvPr/>
            </p:nvSpPr>
            <p:spPr>
              <a:xfrm>
                <a:off x="540383" y="561473"/>
                <a:ext cx="2015360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DATA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7A9C18-DAF9-1DAA-9F71-377093263DF1}"/>
                  </a:ext>
                </a:extLst>
              </p:cNvPr>
              <p:cNvSpPr txBox="1"/>
              <p:nvPr/>
            </p:nvSpPr>
            <p:spPr>
              <a:xfrm>
                <a:off x="329178" y="2011987"/>
                <a:ext cx="2428677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by itself doesn’t tell you much.</a:t>
                </a:r>
                <a:br>
                  <a:rPr lang="en-US" dirty="0"/>
                </a:br>
                <a:r>
                  <a:rPr lang="en-US" dirty="0"/>
                  <a:t>But when you </a:t>
                </a:r>
                <a:r>
                  <a:rPr lang="en-US" b="1" dirty="0"/>
                  <a:t>organize</a:t>
                </a:r>
                <a:r>
                  <a:rPr lang="en-US" dirty="0"/>
                  <a:t>, </a:t>
                </a:r>
                <a:r>
                  <a:rPr lang="en-US" b="1" dirty="0"/>
                  <a:t>analyze</a:t>
                </a:r>
                <a:r>
                  <a:rPr lang="en-US" dirty="0"/>
                  <a:t>, or </a:t>
                </a:r>
                <a:r>
                  <a:rPr lang="en-US" b="1" dirty="0"/>
                  <a:t>interpret</a:t>
                </a:r>
                <a:r>
                  <a:rPr lang="en-US" dirty="0"/>
                  <a:t> it, it becomes </a:t>
                </a:r>
                <a:r>
                  <a:rPr lang="en-US" b="1" dirty="0"/>
                  <a:t>information</a:t>
                </a:r>
                <a:r>
                  <a:rPr lang="en-US" dirty="0"/>
                  <a:t> or </a:t>
                </a:r>
                <a:r>
                  <a:rPr lang="en-US" b="1" dirty="0"/>
                  <a:t>knowledge</a:t>
                </a:r>
                <a:r>
                  <a:rPr lang="en-US" dirty="0"/>
                  <a:t>.</a:t>
                </a:r>
              </a:p>
            </p:txBody>
          </p:sp>
          <p:pic>
            <p:nvPicPr>
              <p:cNvPr id="14" name="Graphic 13" descr="Server with solid fill">
                <a:extLst>
                  <a:ext uri="{FF2B5EF4-FFF2-40B4-BE49-F238E27FC236}">
                    <a16:creationId xmlns:a16="http://schemas.microsoft.com/office/drawing/2014/main" id="{34AB0EBE-0CEA-5A24-70E6-89CB6F177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90863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EB439A1C-EE9C-11D0-803C-BE4CF6471057}"/>
                </a:ext>
              </a:extLst>
            </p:cNvPr>
            <p:cNvSpPr/>
            <p:nvPr/>
          </p:nvSpPr>
          <p:spPr>
            <a:xfrm rot="5400000">
              <a:off x="2629104" y="988089"/>
              <a:ext cx="1193800" cy="304800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680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3763-84BA-4222-02DC-2D97E828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9CF350ED-8A51-EC2E-5D8C-BCE86F3C6542}"/>
              </a:ext>
            </a:extLst>
          </p:cNvPr>
          <p:cNvGrpSpPr/>
          <p:nvPr/>
        </p:nvGrpSpPr>
        <p:grpSpPr>
          <a:xfrm>
            <a:off x="9168364" y="0"/>
            <a:ext cx="3384040" cy="6858000"/>
            <a:chOff x="4779714" y="0"/>
            <a:chExt cx="3384040" cy="68580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C41D7B1-BA3C-5036-B9D3-5C9597BB448D}"/>
                </a:ext>
              </a:extLst>
            </p:cNvPr>
            <p:cNvGrpSpPr/>
            <p:nvPr/>
          </p:nvGrpSpPr>
          <p:grpSpPr>
            <a:xfrm>
              <a:off x="4779714" y="0"/>
              <a:ext cx="3096126" cy="6858000"/>
              <a:chOff x="9095874" y="0"/>
              <a:chExt cx="3096126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9BC6218-7B9F-8396-DF22-A8192FD6D504}"/>
                  </a:ext>
                </a:extLst>
              </p:cNvPr>
              <p:cNvSpPr/>
              <p:nvPr/>
            </p:nvSpPr>
            <p:spPr>
              <a:xfrm>
                <a:off x="9095874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D5781C-756D-117B-69F1-7BC2F96B51BE}"/>
                  </a:ext>
                </a:extLst>
              </p:cNvPr>
              <p:cNvSpPr txBox="1"/>
              <p:nvPr/>
            </p:nvSpPr>
            <p:spPr>
              <a:xfrm>
                <a:off x="9669984" y="561473"/>
                <a:ext cx="207460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WISE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C372E3-C97E-4B57-C5BE-071B8A77A96D}"/>
                  </a:ext>
                </a:extLst>
              </p:cNvPr>
              <p:cNvSpPr txBox="1"/>
              <p:nvPr/>
            </p:nvSpPr>
            <p:spPr>
              <a:xfrm>
                <a:off x="9492948" y="1594413"/>
                <a:ext cx="2428677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involves </a:t>
                </a:r>
                <a:r>
                  <a:rPr lang="en-US" b="1" dirty="0"/>
                  <a:t>experience</a:t>
                </a:r>
                <a:r>
                  <a:rPr lang="en-US" dirty="0"/>
                  <a:t>, </a:t>
                </a:r>
                <a:r>
                  <a:rPr lang="en-US" b="1" dirty="0"/>
                  <a:t>morals</a:t>
                </a:r>
                <a:r>
                  <a:rPr lang="en-US" dirty="0"/>
                  <a:t>, </a:t>
                </a:r>
                <a:r>
                  <a:rPr lang="en-US" b="1" dirty="0"/>
                  <a:t>judgment</a:t>
                </a:r>
                <a:r>
                  <a:rPr lang="en-US" dirty="0"/>
                  <a:t>, and </a:t>
                </a:r>
                <a:r>
                  <a:rPr lang="en-US" b="1" dirty="0"/>
                  <a:t>foresight</a:t>
                </a:r>
                <a:endParaRPr lang="en-US" dirty="0"/>
              </a:p>
              <a:p>
                <a:r>
                  <a:rPr lang="en-US" dirty="0"/>
                  <a:t>It helps people choose the </a:t>
                </a:r>
                <a:r>
                  <a:rPr lang="en-US" b="1" dirty="0"/>
                  <a:t>best</a:t>
                </a:r>
                <a:r>
                  <a:rPr lang="en-US" dirty="0"/>
                  <a:t> action, not just a correct one</a:t>
                </a:r>
              </a:p>
              <a:p>
                <a:r>
                  <a:rPr lang="en-US" dirty="0"/>
                  <a:t>It is often called “knowing what truly matters”</a:t>
                </a:r>
              </a:p>
            </p:txBody>
          </p:sp>
          <p:pic>
            <p:nvPicPr>
              <p:cNvPr id="27" name="Graphic 26" descr="Koi with solid fill">
                <a:extLst>
                  <a:ext uri="{FF2B5EF4-FFF2-40B4-BE49-F238E27FC236}">
                    <a16:creationId xmlns:a16="http://schemas.microsoft.com/office/drawing/2014/main" id="{BD0EA2B5-05E1-E403-BC84-3874B77E4B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186737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6EDFD891-1861-0236-44F0-211A56774AF3}"/>
                </a:ext>
              </a:extLst>
            </p:cNvPr>
            <p:cNvSpPr/>
            <p:nvPr/>
          </p:nvSpPr>
          <p:spPr>
            <a:xfrm rot="5400000">
              <a:off x="7383965" y="1035810"/>
              <a:ext cx="1254126" cy="305452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6EA0367-6EE0-7583-791C-CF553C02D997}"/>
              </a:ext>
            </a:extLst>
          </p:cNvPr>
          <p:cNvGrpSpPr/>
          <p:nvPr/>
        </p:nvGrpSpPr>
        <p:grpSpPr>
          <a:xfrm>
            <a:off x="6159649" y="0"/>
            <a:ext cx="3382023" cy="6858000"/>
            <a:chOff x="6023810" y="0"/>
            <a:chExt cx="3382023" cy="68580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CDDEE9A-AAF7-7766-6F91-4189CF36FE69}"/>
                </a:ext>
              </a:extLst>
            </p:cNvPr>
            <p:cNvGrpSpPr/>
            <p:nvPr/>
          </p:nvGrpSpPr>
          <p:grpSpPr>
            <a:xfrm>
              <a:off x="6023810" y="0"/>
              <a:ext cx="3096126" cy="6858000"/>
              <a:chOff x="6023810" y="0"/>
              <a:chExt cx="3096126" cy="685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158B263-C89E-DBBD-6776-38CEC26B19E5}"/>
                  </a:ext>
                </a:extLst>
              </p:cNvPr>
              <p:cNvSpPr/>
              <p:nvPr/>
            </p:nvSpPr>
            <p:spPr>
              <a:xfrm>
                <a:off x="6023810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719B20-6779-62DE-D802-DBA8D55E9CF1}"/>
                  </a:ext>
                </a:extLst>
              </p:cNvPr>
              <p:cNvSpPr txBox="1"/>
              <p:nvPr/>
            </p:nvSpPr>
            <p:spPr>
              <a:xfrm>
                <a:off x="6552432" y="561473"/>
                <a:ext cx="198163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KNW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B7D518-89B8-13D7-393B-61E6313363DF}"/>
                  </a:ext>
                </a:extLst>
              </p:cNvPr>
              <p:cNvSpPr txBox="1"/>
              <p:nvPr/>
            </p:nvSpPr>
            <p:spPr>
              <a:xfrm>
                <a:off x="6357534" y="1577136"/>
                <a:ext cx="2428677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is gained through </a:t>
                </a:r>
                <a:r>
                  <a:rPr lang="en-US" b="1" dirty="0"/>
                  <a:t>learning</a:t>
                </a:r>
                <a:r>
                  <a:rPr lang="en-US" dirty="0"/>
                  <a:t>, </a:t>
                </a:r>
                <a:r>
                  <a:rPr lang="en-US" b="1" dirty="0"/>
                  <a:t>experience</a:t>
                </a:r>
                <a:r>
                  <a:rPr lang="en-US" dirty="0"/>
                  <a:t>, and </a:t>
                </a:r>
                <a:r>
                  <a:rPr lang="en-US" b="1" dirty="0"/>
                  <a:t>thinking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Knowledge helps you make </a:t>
                </a:r>
                <a:r>
                  <a:rPr lang="en-US" b="1" dirty="0"/>
                  <a:t>decisions</a:t>
                </a:r>
                <a:r>
                  <a:rPr lang="en-US" dirty="0"/>
                  <a:t> and </a:t>
                </a:r>
                <a:r>
                  <a:rPr lang="en-US" b="1" dirty="0"/>
                  <a:t>solve problems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It is more </a:t>
                </a:r>
                <a:r>
                  <a:rPr lang="en-US" b="1" dirty="0"/>
                  <a:t>deep</a:t>
                </a:r>
                <a:r>
                  <a:rPr lang="en-US" dirty="0"/>
                  <a:t> and </a:t>
                </a:r>
                <a:r>
                  <a:rPr lang="en-US" b="1" dirty="0"/>
                  <a:t>applied</a:t>
                </a:r>
                <a:r>
                  <a:rPr lang="en-US" dirty="0"/>
                  <a:t> than information.</a:t>
                </a:r>
              </a:p>
            </p:txBody>
          </p:sp>
          <p:pic>
            <p:nvPicPr>
              <p:cNvPr id="22" name="Graphic 21" descr="Brain in head with solid fill">
                <a:extLst>
                  <a:ext uri="{FF2B5EF4-FFF2-40B4-BE49-F238E27FC236}">
                    <a16:creationId xmlns:a16="http://schemas.microsoft.com/office/drawing/2014/main" id="{42B87A3E-21D9-F961-AA1F-7FE961BB5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86152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AB8B6D43-A0E0-AB0E-2447-42E9336AE13D}"/>
                </a:ext>
              </a:extLst>
            </p:cNvPr>
            <p:cNvSpPr/>
            <p:nvPr/>
          </p:nvSpPr>
          <p:spPr>
            <a:xfrm rot="5400000">
              <a:off x="8656533" y="1005973"/>
              <a:ext cx="1193800" cy="304800"/>
            </a:xfrm>
            <a:prstGeom prst="triangl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D9D561F-C42C-F2ED-D3E9-E6BD27B0935E}"/>
              </a:ext>
            </a:extLst>
          </p:cNvPr>
          <p:cNvGrpSpPr/>
          <p:nvPr/>
        </p:nvGrpSpPr>
        <p:grpSpPr>
          <a:xfrm>
            <a:off x="3070373" y="0"/>
            <a:ext cx="3391407" cy="6858000"/>
            <a:chOff x="3011905" y="0"/>
            <a:chExt cx="3391407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34111-7254-903F-E2D3-1D3A67E1729E}"/>
                </a:ext>
              </a:extLst>
            </p:cNvPr>
            <p:cNvGrpSpPr/>
            <p:nvPr/>
          </p:nvGrpSpPr>
          <p:grpSpPr>
            <a:xfrm>
              <a:off x="3011905" y="0"/>
              <a:ext cx="3096126" cy="6858000"/>
              <a:chOff x="3011905" y="0"/>
              <a:chExt cx="3096126" cy="6858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CEAEFDD-867F-7334-EE8F-6020F8F53270}"/>
                  </a:ext>
                </a:extLst>
              </p:cNvPr>
              <p:cNvSpPr/>
              <p:nvPr/>
            </p:nvSpPr>
            <p:spPr>
              <a:xfrm>
                <a:off x="3011905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5FE08B-C03D-B3CC-610E-13C11EECFA74}"/>
                  </a:ext>
                </a:extLst>
              </p:cNvPr>
              <p:cNvSpPr txBox="1"/>
              <p:nvPr/>
            </p:nvSpPr>
            <p:spPr>
              <a:xfrm>
                <a:off x="3552288" y="561473"/>
                <a:ext cx="196342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INFO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05C612-3FA6-FD3C-D359-4D9D17D75AD2}"/>
                  </a:ext>
                </a:extLst>
              </p:cNvPr>
              <p:cNvSpPr txBox="1"/>
              <p:nvPr/>
            </p:nvSpPr>
            <p:spPr>
              <a:xfrm>
                <a:off x="3342961" y="1577136"/>
                <a:ext cx="2428677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Information helps in </a:t>
                </a:r>
                <a:r>
                  <a:rPr lang="en-US" b="1" dirty="0"/>
                  <a:t>decision-making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Information is created when data is </a:t>
                </a:r>
                <a:r>
                  <a:rPr lang="en-US" b="1" dirty="0"/>
                  <a:t>analyzed</a:t>
                </a:r>
                <a:r>
                  <a:rPr lang="en-US" dirty="0"/>
                  <a:t>, </a:t>
                </a:r>
                <a:r>
                  <a:rPr lang="en-US" b="1" dirty="0"/>
                  <a:t>classified</a:t>
                </a:r>
                <a:r>
                  <a:rPr lang="en-US" dirty="0"/>
                  <a:t>, </a:t>
                </a:r>
                <a:r>
                  <a:rPr lang="en-US" b="1" dirty="0"/>
                  <a:t>organized</a:t>
                </a:r>
                <a:r>
                  <a:rPr lang="en-US" dirty="0"/>
                  <a:t>, or </a:t>
                </a:r>
                <a:r>
                  <a:rPr lang="en-US" b="1" dirty="0"/>
                  <a:t>summarized</a:t>
                </a:r>
                <a:r>
                  <a:rPr lang="en-US" dirty="0"/>
                  <a:t>.</a:t>
                </a:r>
              </a:p>
            </p:txBody>
          </p:sp>
          <p:pic>
            <p:nvPicPr>
              <p:cNvPr id="18" name="Graphic 17" descr="Pie chart with solid fill">
                <a:extLst>
                  <a:ext uri="{FF2B5EF4-FFF2-40B4-BE49-F238E27FC236}">
                    <a16:creationId xmlns:a16="http://schemas.microsoft.com/office/drawing/2014/main" id="{3E4F6C6E-4F0B-1947-4567-629E3C9C4B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76799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8F430A76-5C5A-0FB2-968F-74767A3E61E8}"/>
                </a:ext>
              </a:extLst>
            </p:cNvPr>
            <p:cNvSpPr/>
            <p:nvPr/>
          </p:nvSpPr>
          <p:spPr>
            <a:xfrm rot="5400000">
              <a:off x="5654012" y="1005973"/>
              <a:ext cx="1193800" cy="304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2CD59F5-B8E8-1D9C-F3D4-A563FDF153C6}"/>
              </a:ext>
            </a:extLst>
          </p:cNvPr>
          <p:cNvGrpSpPr/>
          <p:nvPr/>
        </p:nvGrpSpPr>
        <p:grpSpPr>
          <a:xfrm>
            <a:off x="0" y="0"/>
            <a:ext cx="3369838" cy="6858000"/>
            <a:chOff x="0" y="0"/>
            <a:chExt cx="3369838" cy="6858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02546A5-E8F2-80B5-5195-18FF26270033}"/>
                </a:ext>
              </a:extLst>
            </p:cNvPr>
            <p:cNvGrpSpPr/>
            <p:nvPr/>
          </p:nvGrpSpPr>
          <p:grpSpPr>
            <a:xfrm>
              <a:off x="0" y="0"/>
              <a:ext cx="3096126" cy="6858000"/>
              <a:chOff x="0" y="0"/>
              <a:chExt cx="309612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74F49A5-63E9-2D06-A35C-D318072A5164}"/>
                  </a:ext>
                </a:extLst>
              </p:cNvPr>
              <p:cNvSpPr/>
              <p:nvPr/>
            </p:nvSpPr>
            <p:spPr>
              <a:xfrm>
                <a:off x="0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B8CA85-E406-8976-1E7F-E3522F8E587F}"/>
                  </a:ext>
                </a:extLst>
              </p:cNvPr>
              <p:cNvSpPr txBox="1"/>
              <p:nvPr/>
            </p:nvSpPr>
            <p:spPr>
              <a:xfrm>
                <a:off x="540383" y="561473"/>
                <a:ext cx="2015360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DATA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12F0F0-F85B-2E36-23A2-D57BCAE70100}"/>
                  </a:ext>
                </a:extLst>
              </p:cNvPr>
              <p:cNvSpPr txBox="1"/>
              <p:nvPr/>
            </p:nvSpPr>
            <p:spPr>
              <a:xfrm>
                <a:off x="329178" y="2011987"/>
                <a:ext cx="2428677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by itself doesn’t tell you much.</a:t>
                </a:r>
                <a:br>
                  <a:rPr lang="en-US" dirty="0"/>
                </a:br>
                <a:r>
                  <a:rPr lang="en-US" dirty="0"/>
                  <a:t>But when you </a:t>
                </a:r>
                <a:r>
                  <a:rPr lang="en-US" b="1" dirty="0"/>
                  <a:t>organize</a:t>
                </a:r>
                <a:r>
                  <a:rPr lang="en-US" dirty="0"/>
                  <a:t>, </a:t>
                </a:r>
                <a:r>
                  <a:rPr lang="en-US" b="1" dirty="0"/>
                  <a:t>analyze</a:t>
                </a:r>
                <a:r>
                  <a:rPr lang="en-US" dirty="0"/>
                  <a:t>, or </a:t>
                </a:r>
                <a:r>
                  <a:rPr lang="en-US" b="1" dirty="0"/>
                  <a:t>interpret</a:t>
                </a:r>
                <a:r>
                  <a:rPr lang="en-US" dirty="0"/>
                  <a:t> it, it becomes </a:t>
                </a:r>
                <a:r>
                  <a:rPr lang="en-US" b="1" dirty="0"/>
                  <a:t>information</a:t>
                </a:r>
                <a:r>
                  <a:rPr lang="en-US" dirty="0"/>
                  <a:t> or </a:t>
                </a:r>
                <a:r>
                  <a:rPr lang="en-US" b="1" dirty="0"/>
                  <a:t>knowledge</a:t>
                </a:r>
                <a:r>
                  <a:rPr lang="en-US" dirty="0"/>
                  <a:t>.</a:t>
                </a:r>
              </a:p>
            </p:txBody>
          </p:sp>
          <p:pic>
            <p:nvPicPr>
              <p:cNvPr id="14" name="Graphic 13" descr="Server with solid fill">
                <a:extLst>
                  <a:ext uri="{FF2B5EF4-FFF2-40B4-BE49-F238E27FC236}">
                    <a16:creationId xmlns:a16="http://schemas.microsoft.com/office/drawing/2014/main" id="{CAE339DB-20FF-0087-7CB5-EB3B3FCCF5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90863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7FC9CAA1-DAFC-54BA-AEA3-8AA70E7E7CB5}"/>
                </a:ext>
              </a:extLst>
            </p:cNvPr>
            <p:cNvSpPr/>
            <p:nvPr/>
          </p:nvSpPr>
          <p:spPr>
            <a:xfrm rot="5400000">
              <a:off x="2620538" y="1005973"/>
              <a:ext cx="1193800" cy="304800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5662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5400-6E34-4E61-7554-4A65C992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8AD603F5-BC73-B3BF-D86F-B107C05A3DA8}"/>
              </a:ext>
            </a:extLst>
          </p:cNvPr>
          <p:cNvGrpSpPr/>
          <p:nvPr/>
        </p:nvGrpSpPr>
        <p:grpSpPr>
          <a:xfrm>
            <a:off x="12192000" y="0"/>
            <a:ext cx="3384040" cy="6858000"/>
            <a:chOff x="4779714" y="0"/>
            <a:chExt cx="3384040" cy="685800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E229B99-1235-E1AA-5BC8-9D846F0E610D}"/>
                </a:ext>
              </a:extLst>
            </p:cNvPr>
            <p:cNvGrpSpPr/>
            <p:nvPr/>
          </p:nvGrpSpPr>
          <p:grpSpPr>
            <a:xfrm>
              <a:off x="4779714" y="0"/>
              <a:ext cx="3096126" cy="6858000"/>
              <a:chOff x="9095874" y="0"/>
              <a:chExt cx="3096126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931871D-0A80-0766-CDA9-4197A1E97BBD}"/>
                  </a:ext>
                </a:extLst>
              </p:cNvPr>
              <p:cNvSpPr/>
              <p:nvPr/>
            </p:nvSpPr>
            <p:spPr>
              <a:xfrm>
                <a:off x="9095874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F88D5A-DCDF-260A-D020-99A98A124F6C}"/>
                  </a:ext>
                </a:extLst>
              </p:cNvPr>
              <p:cNvSpPr txBox="1"/>
              <p:nvPr/>
            </p:nvSpPr>
            <p:spPr>
              <a:xfrm>
                <a:off x="9669984" y="561473"/>
                <a:ext cx="207460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WISE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539A82-D160-A269-60AE-549A9749D233}"/>
                  </a:ext>
                </a:extLst>
              </p:cNvPr>
              <p:cNvSpPr txBox="1"/>
              <p:nvPr/>
            </p:nvSpPr>
            <p:spPr>
              <a:xfrm>
                <a:off x="9492948" y="1594413"/>
                <a:ext cx="2428677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involves </a:t>
                </a:r>
                <a:r>
                  <a:rPr lang="en-US" b="1" dirty="0"/>
                  <a:t>experience</a:t>
                </a:r>
                <a:r>
                  <a:rPr lang="en-US" dirty="0"/>
                  <a:t>, </a:t>
                </a:r>
                <a:r>
                  <a:rPr lang="en-US" b="1" dirty="0"/>
                  <a:t>morals</a:t>
                </a:r>
                <a:r>
                  <a:rPr lang="en-US" dirty="0"/>
                  <a:t>, </a:t>
                </a:r>
                <a:r>
                  <a:rPr lang="en-US" b="1" dirty="0"/>
                  <a:t>judgment</a:t>
                </a:r>
                <a:r>
                  <a:rPr lang="en-US" dirty="0"/>
                  <a:t>, and </a:t>
                </a:r>
                <a:r>
                  <a:rPr lang="en-US" b="1" dirty="0"/>
                  <a:t>foresight</a:t>
                </a:r>
                <a:endParaRPr lang="en-US" dirty="0"/>
              </a:p>
              <a:p>
                <a:r>
                  <a:rPr lang="en-US" dirty="0"/>
                  <a:t>It helps people choose the </a:t>
                </a:r>
                <a:r>
                  <a:rPr lang="en-US" b="1" dirty="0"/>
                  <a:t>best</a:t>
                </a:r>
                <a:r>
                  <a:rPr lang="en-US" dirty="0"/>
                  <a:t> action, not just a correct one</a:t>
                </a:r>
              </a:p>
              <a:p>
                <a:r>
                  <a:rPr lang="en-US" dirty="0"/>
                  <a:t>It is often called “knowing what truly matters”</a:t>
                </a:r>
              </a:p>
            </p:txBody>
          </p:sp>
          <p:pic>
            <p:nvPicPr>
              <p:cNvPr id="27" name="Graphic 26" descr="Koi with solid fill">
                <a:extLst>
                  <a:ext uri="{FF2B5EF4-FFF2-40B4-BE49-F238E27FC236}">
                    <a16:creationId xmlns:a16="http://schemas.microsoft.com/office/drawing/2014/main" id="{C5C7CD08-185E-9DD2-11F2-B6CEBD1AA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186737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A8E6130-4232-7D6E-BBFD-898A5FE01189}"/>
                </a:ext>
              </a:extLst>
            </p:cNvPr>
            <p:cNvSpPr/>
            <p:nvPr/>
          </p:nvSpPr>
          <p:spPr>
            <a:xfrm rot="5400000">
              <a:off x="7383965" y="1035810"/>
              <a:ext cx="1254126" cy="305452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22A6766-EBA5-3C18-06A0-C676D0C0C398}"/>
              </a:ext>
            </a:extLst>
          </p:cNvPr>
          <p:cNvGrpSpPr/>
          <p:nvPr/>
        </p:nvGrpSpPr>
        <p:grpSpPr>
          <a:xfrm>
            <a:off x="12194017" y="0"/>
            <a:ext cx="3382023" cy="6858000"/>
            <a:chOff x="6023810" y="0"/>
            <a:chExt cx="3382023" cy="68580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BB6AEAF-CF73-1D80-1602-9C8120AFFD48}"/>
                </a:ext>
              </a:extLst>
            </p:cNvPr>
            <p:cNvGrpSpPr/>
            <p:nvPr/>
          </p:nvGrpSpPr>
          <p:grpSpPr>
            <a:xfrm>
              <a:off x="6023810" y="0"/>
              <a:ext cx="3096126" cy="6858000"/>
              <a:chOff x="6023810" y="0"/>
              <a:chExt cx="3096126" cy="6858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9224522-5DD6-E6AA-7341-6241CB1A294E}"/>
                  </a:ext>
                </a:extLst>
              </p:cNvPr>
              <p:cNvSpPr/>
              <p:nvPr/>
            </p:nvSpPr>
            <p:spPr>
              <a:xfrm>
                <a:off x="6023810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E9C1CC-410B-F8B8-3CB0-669C5E24ED52}"/>
                  </a:ext>
                </a:extLst>
              </p:cNvPr>
              <p:cNvSpPr txBox="1"/>
              <p:nvPr/>
            </p:nvSpPr>
            <p:spPr>
              <a:xfrm>
                <a:off x="6552432" y="561473"/>
                <a:ext cx="198163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KNW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5FDEA6-77C8-7559-41A0-7302050BA008}"/>
                  </a:ext>
                </a:extLst>
              </p:cNvPr>
              <p:cNvSpPr txBox="1"/>
              <p:nvPr/>
            </p:nvSpPr>
            <p:spPr>
              <a:xfrm>
                <a:off x="6357534" y="1577136"/>
                <a:ext cx="2428677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is gained through </a:t>
                </a:r>
                <a:r>
                  <a:rPr lang="en-US" b="1" dirty="0"/>
                  <a:t>learning</a:t>
                </a:r>
                <a:r>
                  <a:rPr lang="en-US" dirty="0"/>
                  <a:t>, </a:t>
                </a:r>
                <a:r>
                  <a:rPr lang="en-US" b="1" dirty="0"/>
                  <a:t>experience</a:t>
                </a:r>
                <a:r>
                  <a:rPr lang="en-US" dirty="0"/>
                  <a:t>, and </a:t>
                </a:r>
                <a:r>
                  <a:rPr lang="en-US" b="1" dirty="0"/>
                  <a:t>thinking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Knowledge helps you make </a:t>
                </a:r>
                <a:r>
                  <a:rPr lang="en-US" b="1" dirty="0"/>
                  <a:t>decisions</a:t>
                </a:r>
                <a:r>
                  <a:rPr lang="en-US" dirty="0"/>
                  <a:t> and </a:t>
                </a:r>
                <a:r>
                  <a:rPr lang="en-US" b="1" dirty="0"/>
                  <a:t>solve problems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It is more </a:t>
                </a:r>
                <a:r>
                  <a:rPr lang="en-US" b="1" dirty="0"/>
                  <a:t>deep</a:t>
                </a:r>
                <a:r>
                  <a:rPr lang="en-US" dirty="0"/>
                  <a:t> and </a:t>
                </a:r>
                <a:r>
                  <a:rPr lang="en-US" b="1" dirty="0"/>
                  <a:t>applied</a:t>
                </a:r>
                <a:r>
                  <a:rPr lang="en-US" dirty="0"/>
                  <a:t> than information.</a:t>
                </a:r>
              </a:p>
            </p:txBody>
          </p:sp>
          <p:pic>
            <p:nvPicPr>
              <p:cNvPr id="22" name="Graphic 21" descr="Brain in head with solid fill">
                <a:extLst>
                  <a:ext uri="{FF2B5EF4-FFF2-40B4-BE49-F238E27FC236}">
                    <a16:creationId xmlns:a16="http://schemas.microsoft.com/office/drawing/2014/main" id="{EB836D4B-3E15-AFB4-8814-C120F6D948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86152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7D3CEB5B-6511-B279-D9A3-3BDAC9C5BAE8}"/>
                </a:ext>
              </a:extLst>
            </p:cNvPr>
            <p:cNvSpPr/>
            <p:nvPr/>
          </p:nvSpPr>
          <p:spPr>
            <a:xfrm rot="5400000">
              <a:off x="8656533" y="1005973"/>
              <a:ext cx="1193800" cy="304800"/>
            </a:xfrm>
            <a:prstGeom prst="triangl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2F9BB49-DA4B-354C-A802-43261C683C69}"/>
              </a:ext>
            </a:extLst>
          </p:cNvPr>
          <p:cNvGrpSpPr/>
          <p:nvPr/>
        </p:nvGrpSpPr>
        <p:grpSpPr>
          <a:xfrm>
            <a:off x="12184633" y="0"/>
            <a:ext cx="3391407" cy="6858000"/>
            <a:chOff x="3011905" y="0"/>
            <a:chExt cx="3391407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B614218-9FBF-BEC9-4033-DCAB8EA86A2C}"/>
                </a:ext>
              </a:extLst>
            </p:cNvPr>
            <p:cNvGrpSpPr/>
            <p:nvPr/>
          </p:nvGrpSpPr>
          <p:grpSpPr>
            <a:xfrm>
              <a:off x="3011905" y="0"/>
              <a:ext cx="3096126" cy="6858000"/>
              <a:chOff x="3011905" y="0"/>
              <a:chExt cx="3096126" cy="6858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55DDD23-62A0-552E-6BBA-74C10C70D0C8}"/>
                  </a:ext>
                </a:extLst>
              </p:cNvPr>
              <p:cNvSpPr/>
              <p:nvPr/>
            </p:nvSpPr>
            <p:spPr>
              <a:xfrm>
                <a:off x="3011905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8713B7-543C-FBEB-56CF-1F89827CC7E8}"/>
                  </a:ext>
                </a:extLst>
              </p:cNvPr>
              <p:cNvSpPr txBox="1"/>
              <p:nvPr/>
            </p:nvSpPr>
            <p:spPr>
              <a:xfrm>
                <a:off x="3552288" y="561473"/>
                <a:ext cx="1963423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INFO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E0618-9EFE-D94B-6F8E-6AE321C430EE}"/>
                  </a:ext>
                </a:extLst>
              </p:cNvPr>
              <p:cNvSpPr txBox="1"/>
              <p:nvPr/>
            </p:nvSpPr>
            <p:spPr>
              <a:xfrm>
                <a:off x="3342961" y="1577136"/>
                <a:ext cx="2428677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Information helps in </a:t>
                </a:r>
                <a:r>
                  <a:rPr lang="en-US" b="1" dirty="0"/>
                  <a:t>decision-making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Information is created when data is </a:t>
                </a:r>
                <a:r>
                  <a:rPr lang="en-US" b="1" dirty="0"/>
                  <a:t>analyzed</a:t>
                </a:r>
                <a:r>
                  <a:rPr lang="en-US" dirty="0"/>
                  <a:t>, </a:t>
                </a:r>
                <a:r>
                  <a:rPr lang="en-US" b="1" dirty="0"/>
                  <a:t>classified</a:t>
                </a:r>
                <a:r>
                  <a:rPr lang="en-US" dirty="0"/>
                  <a:t>, </a:t>
                </a:r>
                <a:r>
                  <a:rPr lang="en-US" b="1" dirty="0"/>
                  <a:t>organized</a:t>
                </a:r>
                <a:r>
                  <a:rPr lang="en-US" dirty="0"/>
                  <a:t>, or </a:t>
                </a:r>
                <a:r>
                  <a:rPr lang="en-US" b="1" dirty="0"/>
                  <a:t>summarized</a:t>
                </a:r>
                <a:r>
                  <a:rPr lang="en-US" dirty="0"/>
                  <a:t>.</a:t>
                </a:r>
              </a:p>
            </p:txBody>
          </p:sp>
          <p:pic>
            <p:nvPicPr>
              <p:cNvPr id="18" name="Graphic 17" descr="Pie chart with solid fill">
                <a:extLst>
                  <a:ext uri="{FF2B5EF4-FFF2-40B4-BE49-F238E27FC236}">
                    <a16:creationId xmlns:a16="http://schemas.microsoft.com/office/drawing/2014/main" id="{2DD3C960-05A1-C01C-C67D-AC029133C4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76799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E4581287-A930-5F89-84C1-C0205AE57DAA}"/>
                </a:ext>
              </a:extLst>
            </p:cNvPr>
            <p:cNvSpPr/>
            <p:nvPr/>
          </p:nvSpPr>
          <p:spPr>
            <a:xfrm rot="5400000">
              <a:off x="5654012" y="1005973"/>
              <a:ext cx="1193800" cy="30480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C719506-1908-DFA6-3C6C-8B767FD1816F}"/>
              </a:ext>
            </a:extLst>
          </p:cNvPr>
          <p:cNvGrpSpPr/>
          <p:nvPr/>
        </p:nvGrpSpPr>
        <p:grpSpPr>
          <a:xfrm>
            <a:off x="12206202" y="0"/>
            <a:ext cx="3369838" cy="6858000"/>
            <a:chOff x="0" y="0"/>
            <a:chExt cx="3369838" cy="6858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B2EC6AB-0FDF-599F-BEDE-269625E12FDD}"/>
                </a:ext>
              </a:extLst>
            </p:cNvPr>
            <p:cNvGrpSpPr/>
            <p:nvPr/>
          </p:nvGrpSpPr>
          <p:grpSpPr>
            <a:xfrm>
              <a:off x="0" y="0"/>
              <a:ext cx="3096126" cy="6858000"/>
              <a:chOff x="0" y="0"/>
              <a:chExt cx="309612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219EAAC-D399-57EF-63CA-42D6B510F652}"/>
                  </a:ext>
                </a:extLst>
              </p:cNvPr>
              <p:cNvSpPr/>
              <p:nvPr/>
            </p:nvSpPr>
            <p:spPr>
              <a:xfrm>
                <a:off x="0" y="0"/>
                <a:ext cx="3096126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743ED1-CBB5-A6C3-8C01-41AA74529BF8}"/>
                  </a:ext>
                </a:extLst>
              </p:cNvPr>
              <p:cNvSpPr txBox="1"/>
              <p:nvPr/>
            </p:nvSpPr>
            <p:spPr>
              <a:xfrm>
                <a:off x="540383" y="561473"/>
                <a:ext cx="2015360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latin typeface="Aptos ExtraBold" panose="020B0004020202020204" pitchFamily="34" charset="0"/>
                    <a:ea typeface="ADLaM Display" panose="020F0502020204030204" pitchFamily="2" charset="0"/>
                    <a:cs typeface="ADLaM Display" panose="020F0502020204030204" pitchFamily="2" charset="0"/>
                  </a:rPr>
                  <a:t>DATA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7CABAD-5002-B56A-68A1-09B3AA3E4F45}"/>
                  </a:ext>
                </a:extLst>
              </p:cNvPr>
              <p:cNvSpPr txBox="1"/>
              <p:nvPr/>
            </p:nvSpPr>
            <p:spPr>
              <a:xfrm>
                <a:off x="329178" y="2011987"/>
                <a:ext cx="2428677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by itself doesn’t tell you much.</a:t>
                </a:r>
                <a:br>
                  <a:rPr lang="en-US" dirty="0"/>
                </a:br>
                <a:r>
                  <a:rPr lang="en-US" dirty="0"/>
                  <a:t>But when you </a:t>
                </a:r>
                <a:r>
                  <a:rPr lang="en-US" b="1" dirty="0"/>
                  <a:t>organize</a:t>
                </a:r>
                <a:r>
                  <a:rPr lang="en-US" dirty="0"/>
                  <a:t>, </a:t>
                </a:r>
                <a:r>
                  <a:rPr lang="en-US" b="1" dirty="0"/>
                  <a:t>analyze</a:t>
                </a:r>
                <a:r>
                  <a:rPr lang="en-US" dirty="0"/>
                  <a:t>, or </a:t>
                </a:r>
                <a:r>
                  <a:rPr lang="en-US" b="1" dirty="0"/>
                  <a:t>interpret</a:t>
                </a:r>
                <a:r>
                  <a:rPr lang="en-US" dirty="0"/>
                  <a:t> it, it becomes </a:t>
                </a:r>
                <a:r>
                  <a:rPr lang="en-US" b="1" dirty="0"/>
                  <a:t>information</a:t>
                </a:r>
                <a:r>
                  <a:rPr lang="en-US" dirty="0"/>
                  <a:t> or </a:t>
                </a:r>
                <a:r>
                  <a:rPr lang="en-US" b="1" dirty="0"/>
                  <a:t>knowledge</a:t>
                </a:r>
                <a:r>
                  <a:rPr lang="en-US" dirty="0"/>
                  <a:t>.</a:t>
                </a:r>
              </a:p>
            </p:txBody>
          </p:sp>
          <p:pic>
            <p:nvPicPr>
              <p:cNvPr id="14" name="Graphic 13" descr="Server with solid fill">
                <a:extLst>
                  <a:ext uri="{FF2B5EF4-FFF2-40B4-BE49-F238E27FC236}">
                    <a16:creationId xmlns:a16="http://schemas.microsoft.com/office/drawing/2014/main" id="{B54D9163-74FB-E816-650B-D9B649A741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90863" y="582445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6665019B-A1FC-63B5-9C59-0286F9C3F26C}"/>
                </a:ext>
              </a:extLst>
            </p:cNvPr>
            <p:cNvSpPr/>
            <p:nvPr/>
          </p:nvSpPr>
          <p:spPr>
            <a:xfrm rot="5400000">
              <a:off x="2620538" y="1005973"/>
              <a:ext cx="1193800" cy="304800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6CAB37-8274-8DD5-90EE-263ACCEE48F8}"/>
              </a:ext>
            </a:extLst>
          </p:cNvPr>
          <p:cNvSpPr txBox="1"/>
          <p:nvPr/>
        </p:nvSpPr>
        <p:spPr>
          <a:xfrm>
            <a:off x="2723923" y="2105561"/>
            <a:ext cx="67441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>
                <a:gradFill flip="none" rotWithShape="1">
                  <a:gsLst>
                    <a:gs pos="0">
                      <a:schemeClr val="accent5">
                        <a:lumMod val="40000"/>
                        <a:lumOff val="60000"/>
                      </a:schemeClr>
                    </a:gs>
                    <a:gs pos="46000">
                      <a:schemeClr val="accent5">
                        <a:lumMod val="95000"/>
                        <a:lumOff val="5000"/>
                      </a:schemeClr>
                    </a:gs>
                    <a:gs pos="100000">
                      <a:schemeClr val="accent5">
                        <a:lumMod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effectLst>
                  <a:outerShdw blurRad="60007" dist="200025" dir="15000000" sy="30000" kx="-1800000" algn="bl" rotWithShape="0">
                    <a:schemeClr val="accent2">
                      <a:lumMod val="50000"/>
                      <a:alpha val="32000"/>
                    </a:schemeClr>
                  </a:outerShdw>
                </a:effectLst>
                <a:latin typeface="Bauhaus 93" panose="04030905020B02020C02" pitchFamily="82" charset="0"/>
              </a:rPr>
              <a:t>Thanks</a:t>
            </a:r>
            <a:endParaRPr lang="en-US" dirty="0"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46000">
                    <a:schemeClr val="accent5">
                      <a:lumMod val="95000"/>
                      <a:lumOff val="5000"/>
                    </a:schemeClr>
                  </a:gs>
                  <a:gs pos="100000">
                    <a:schemeClr val="accent5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effectLst>
                <a:outerShdw blurRad="60007" dist="200025" dir="15000000" sy="30000" kx="-1800000" algn="bl" rotWithShape="0">
                  <a:schemeClr val="accent2">
                    <a:lumMod val="50000"/>
                    <a:alpha val="32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15157-A4C1-B37B-998F-E66A841C7275}"/>
              </a:ext>
            </a:extLst>
          </p:cNvPr>
          <p:cNvSpPr txBox="1"/>
          <p:nvPr/>
        </p:nvSpPr>
        <p:spPr>
          <a:xfrm>
            <a:off x="3130608" y="4686617"/>
            <a:ext cx="3139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b="1" dirty="0"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Aptos ExtraBold" panose="020B0004020202020204" pitchFamily="34" charset="0"/>
              </a:rPr>
              <a:t>ابوبكر سعيد عثمان - 20241974</a:t>
            </a:r>
            <a:endParaRPr lang="en-US" sz="2000" b="1" dirty="0"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atin typeface="Aptos ExtraBold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CE054-461E-285E-E38F-475FD607C935}"/>
              </a:ext>
            </a:extLst>
          </p:cNvPr>
          <p:cNvSpPr txBox="1"/>
          <p:nvPr/>
        </p:nvSpPr>
        <p:spPr>
          <a:xfrm>
            <a:off x="6296360" y="4328542"/>
            <a:ext cx="3065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b="1" dirty="0"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Aptos ExtraBold" panose="020B0004020202020204" pitchFamily="34" charset="0"/>
              </a:rPr>
              <a:t>يوسف ياسر فتحي - 20241239</a:t>
            </a:r>
            <a:endParaRPr lang="en-US" sz="2000" b="1" dirty="0"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atin typeface="Aptos ExtraBold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01D2A-8508-7E9C-E4A8-EA695D8D33F4}"/>
              </a:ext>
            </a:extLst>
          </p:cNvPr>
          <p:cNvSpPr txBox="1"/>
          <p:nvPr/>
        </p:nvSpPr>
        <p:spPr>
          <a:xfrm>
            <a:off x="6207588" y="4716654"/>
            <a:ext cx="3113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b="1" dirty="0"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Aptos ExtraBold" panose="020B0004020202020204" pitchFamily="34" charset="0"/>
              </a:rPr>
              <a:t>سامر مجدي عزمي - 20241503</a:t>
            </a:r>
            <a:endParaRPr lang="en-US" sz="2000" b="1" dirty="0"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atin typeface="Aptos ExtraBold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D1AE2-F49B-1DBD-378C-8071EAEE91BC}"/>
              </a:ext>
            </a:extLst>
          </p:cNvPr>
          <p:cNvSpPr txBox="1"/>
          <p:nvPr/>
        </p:nvSpPr>
        <p:spPr>
          <a:xfrm>
            <a:off x="3206449" y="4328542"/>
            <a:ext cx="3036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b="1" dirty="0"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Aptos ExtraBold" panose="020B0004020202020204" pitchFamily="34" charset="0"/>
              </a:rPr>
              <a:t>مؤمن سيد عمران - 20240227</a:t>
            </a:r>
            <a:endParaRPr lang="en-US" sz="2000" b="1" dirty="0">
              <a:gradFill flip="none" rotWithShape="1">
                <a:gsLst>
                  <a:gs pos="0">
                    <a:schemeClr val="accent5">
                      <a:lumMod val="67000"/>
                    </a:schemeClr>
                  </a:gs>
                  <a:gs pos="48000">
                    <a:schemeClr val="accent5">
                      <a:lumMod val="97000"/>
                      <a:lumOff val="3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atin typeface="Aptos ExtraBold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E4082-5EBB-0A2C-7ED9-55D6F0D67EA4}"/>
              </a:ext>
            </a:extLst>
          </p:cNvPr>
          <p:cNvSpPr txBox="1"/>
          <p:nvPr/>
        </p:nvSpPr>
        <p:spPr>
          <a:xfrm>
            <a:off x="4320514" y="6363007"/>
            <a:ext cx="3550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© 2025 All rights reserved </a:t>
            </a:r>
          </a:p>
        </p:txBody>
      </p:sp>
    </p:spTree>
    <p:extLst>
      <p:ext uri="{BB962C8B-B14F-4D97-AF65-F5344CB8AC3E}">
        <p14:creationId xmlns:p14="http://schemas.microsoft.com/office/powerpoint/2010/main" val="3389824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963</Words>
  <Application>Microsoft Office PowerPoint</Application>
  <PresentationFormat>Widescreen</PresentationFormat>
  <Paragraphs>161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Aptos ExtraBold</vt:lpstr>
      <vt:lpstr>Arial</vt:lpstr>
      <vt:lpstr>Arial Black</vt:lpstr>
      <vt:lpstr>Bauhaus 93</vt:lpstr>
      <vt:lpstr>Calibri</vt:lpstr>
      <vt:lpstr>Office Theme</vt:lpstr>
      <vt:lpstr>PowerPoint Presentation</vt:lpstr>
      <vt:lpstr>Supermarket Sales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Branches</vt:lpstr>
      <vt:lpstr>Branches</vt:lpstr>
      <vt:lpstr>Male Member Excel in every Branch</vt:lpstr>
      <vt:lpstr>Male Member Excel in every Branch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20241974</dc:creator>
  <cp:lastModifiedBy>20241974</cp:lastModifiedBy>
  <cp:revision>19</cp:revision>
  <dcterms:created xsi:type="dcterms:W3CDTF">2025-11-28T11:10:44Z</dcterms:created>
  <dcterms:modified xsi:type="dcterms:W3CDTF">2025-12-15T06:11:12Z</dcterms:modified>
</cp:coreProperties>
</file>